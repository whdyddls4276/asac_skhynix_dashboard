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85" autoAdjust="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20" y="1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실제 불량률%</c:v>
                </c:pt>
              </c:strCache>
            </c:strRef>
          </c:tx>
          <c:spPr>
            <a:ln w="19050">
              <a:solidFill>
                <a:srgbClr val="22C55E"/>
              </a:solidFill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3/29</c:v>
                </c:pt>
                <c:pt idx="1">
                  <c:v>3/30</c:v>
                </c:pt>
                <c:pt idx="2">
                  <c:v>4/1</c:v>
                </c:pt>
                <c:pt idx="3">
                  <c:v>4/2</c:v>
                </c:pt>
                <c:pt idx="4">
                  <c:v>4/4</c:v>
                </c:pt>
                <c:pt idx="5">
                  <c:v>4/6</c:v>
                </c:pt>
                <c:pt idx="6">
                  <c:v>4/7</c:v>
                </c:pt>
                <c:pt idx="7">
                  <c:v>4/9</c:v>
                </c:pt>
                <c:pt idx="8">
                  <c:v>4/10</c:v>
                </c:pt>
                <c:pt idx="9">
                  <c:v>4/12</c:v>
                </c:pt>
                <c:pt idx="10">
                  <c:v>4/14</c:v>
                </c:pt>
                <c:pt idx="11">
                  <c:v>4/15</c:v>
                </c:pt>
                <c:pt idx="12">
                  <c:v>4/17</c:v>
                </c:pt>
                <c:pt idx="13">
                  <c:v>4/18</c:v>
                </c:pt>
                <c:pt idx="14">
                  <c:v>4/20</c:v>
                </c:pt>
                <c:pt idx="15">
                  <c:v>4/22</c:v>
                </c:pt>
                <c:pt idx="16">
                  <c:v>4/23</c:v>
                </c:pt>
                <c:pt idx="17">
                  <c:v>4/25</c:v>
                </c:pt>
                <c:pt idx="18">
                  <c:v>4/26</c:v>
                </c:pt>
                <c:pt idx="19">
                  <c:v>4/28</c:v>
                </c:pt>
                <c:pt idx="20">
                  <c:v>4/30</c:v>
                </c:pt>
                <c:pt idx="21">
                  <c:v>5/1</c:v>
                </c:pt>
                <c:pt idx="22">
                  <c:v>5/3</c:v>
                </c:pt>
                <c:pt idx="23">
                  <c:v>5/4</c:v>
                </c:pt>
                <c:pt idx="24">
                  <c:v>5/6</c:v>
                </c:pt>
                <c:pt idx="25">
                  <c:v>5/8</c:v>
                </c:pt>
                <c:pt idx="26">
                  <c:v>5/9</c:v>
                </c:pt>
                <c:pt idx="27">
                  <c:v>5/11</c:v>
                </c:pt>
                <c:pt idx="28">
                  <c:v>5/13</c:v>
                </c:pt>
                <c:pt idx="29">
                  <c:v>5/14</c:v>
                </c:pt>
                <c:pt idx="30">
                  <c:v>5/15</c:v>
                </c:pt>
                <c:pt idx="31">
                  <c:v>5/16</c:v>
                </c:pt>
                <c:pt idx="32">
                  <c:v>5/17</c:v>
                </c:pt>
                <c:pt idx="33">
                  <c:v>5/18</c:v>
                </c:pt>
                <c:pt idx="34">
                  <c:v>5/19</c:v>
                </c:pt>
                <c:pt idx="35">
                  <c:v>5/20</c:v>
                </c:pt>
                <c:pt idx="36">
                  <c:v>5/21</c:v>
                </c:pt>
                <c:pt idx="37">
                  <c:v>5/22</c:v>
                </c:pt>
                <c:pt idx="38">
                  <c:v>5/23</c:v>
                </c:pt>
                <c:pt idx="39">
                  <c:v>5/24</c:v>
                </c:pt>
                <c:pt idx="40">
                  <c:v>5/25</c:v>
                </c:pt>
                <c:pt idx="41">
                  <c:v>5/26</c:v>
                </c:pt>
                <c:pt idx="42">
                  <c:v>5/27</c:v>
                </c:pt>
                <c:pt idx="43">
                  <c:v>5/28</c:v>
                </c:pt>
                <c:pt idx="44">
                  <c:v>5/29</c:v>
                </c:pt>
                <c:pt idx="45">
                  <c:v>5/30</c:v>
                </c:pt>
                <c:pt idx="46">
                  <c:v>5/31</c:v>
                </c:pt>
                <c:pt idx="47">
                  <c:v>6/1</c:v>
                </c:pt>
                <c:pt idx="48">
                  <c:v>6/2</c:v>
                </c:pt>
                <c:pt idx="49">
                  <c:v>6/3</c:v>
                </c:pt>
                <c:pt idx="50">
                  <c:v>6/4</c:v>
                </c:pt>
                <c:pt idx="51">
                  <c:v>6/5</c:v>
                </c:pt>
                <c:pt idx="52">
                  <c:v>6/6</c:v>
                </c:pt>
                <c:pt idx="53">
                  <c:v>6/7</c:v>
                </c:pt>
                <c:pt idx="54">
                  <c:v>6/8</c:v>
                </c:pt>
                <c:pt idx="55">
                  <c:v>6/9</c:v>
                </c:pt>
                <c:pt idx="56">
                  <c:v>6/10</c:v>
                </c:pt>
                <c:pt idx="57">
                  <c:v>6/11</c:v>
                </c:pt>
              </c:strCache>
            </c:strRef>
          </c:cat>
          <c:val>
            <c:numRef>
              <c:f>Sheet1!$B$2:$B$59</c:f>
              <c:numCache>
                <c:formatCode>General</c:formatCode>
                <c:ptCount val="58"/>
                <c:pt idx="0">
                  <c:v>8.26</c:v>
                </c:pt>
                <c:pt idx="1">
                  <c:v>28.58</c:v>
                </c:pt>
                <c:pt idx="2">
                  <c:v>25.85</c:v>
                </c:pt>
                <c:pt idx="3">
                  <c:v>40.71</c:v>
                </c:pt>
                <c:pt idx="4">
                  <c:v>38.42</c:v>
                </c:pt>
                <c:pt idx="5">
                  <c:v>41.2</c:v>
                </c:pt>
                <c:pt idx="6">
                  <c:v>35.9</c:v>
                </c:pt>
                <c:pt idx="7">
                  <c:v>43.03</c:v>
                </c:pt>
                <c:pt idx="8">
                  <c:v>33.409999999999997</c:v>
                </c:pt>
                <c:pt idx="9">
                  <c:v>26.01</c:v>
                </c:pt>
                <c:pt idx="10">
                  <c:v>22.2</c:v>
                </c:pt>
                <c:pt idx="11">
                  <c:v>29.52</c:v>
                </c:pt>
                <c:pt idx="12">
                  <c:v>30.37</c:v>
                </c:pt>
                <c:pt idx="13">
                  <c:v>27.94</c:v>
                </c:pt>
                <c:pt idx="14">
                  <c:v>6.88</c:v>
                </c:pt>
                <c:pt idx="15">
                  <c:v>27.23</c:v>
                </c:pt>
                <c:pt idx="16">
                  <c:v>38.25</c:v>
                </c:pt>
                <c:pt idx="17">
                  <c:v>30.87</c:v>
                </c:pt>
                <c:pt idx="18">
                  <c:v>36.090000000000003</c:v>
                </c:pt>
                <c:pt idx="19">
                  <c:v>20.170000000000002</c:v>
                </c:pt>
                <c:pt idx="20">
                  <c:v>29.45</c:v>
                </c:pt>
                <c:pt idx="21">
                  <c:v>27.51</c:v>
                </c:pt>
                <c:pt idx="22">
                  <c:v>20.55</c:v>
                </c:pt>
                <c:pt idx="23">
                  <c:v>35.130000000000003</c:v>
                </c:pt>
                <c:pt idx="24">
                  <c:v>43.39</c:v>
                </c:pt>
                <c:pt idx="25">
                  <c:v>17.63</c:v>
                </c:pt>
                <c:pt idx="26">
                  <c:v>22.62</c:v>
                </c:pt>
                <c:pt idx="27">
                  <c:v>21.42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4D6-4E37-BE8B-E293613FB4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예측 불량 비율%</c:v>
                </c:pt>
              </c:strCache>
            </c:strRef>
          </c:tx>
          <c:spPr>
            <a:ln w="25400">
              <a:solidFill>
                <a:srgbClr val="3B82F6"/>
              </a:solidFill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3/29</c:v>
                </c:pt>
                <c:pt idx="1">
                  <c:v>3/30</c:v>
                </c:pt>
                <c:pt idx="2">
                  <c:v>4/1</c:v>
                </c:pt>
                <c:pt idx="3">
                  <c:v>4/2</c:v>
                </c:pt>
                <c:pt idx="4">
                  <c:v>4/4</c:v>
                </c:pt>
                <c:pt idx="5">
                  <c:v>4/6</c:v>
                </c:pt>
                <c:pt idx="6">
                  <c:v>4/7</c:v>
                </c:pt>
                <c:pt idx="7">
                  <c:v>4/9</c:v>
                </c:pt>
                <c:pt idx="8">
                  <c:v>4/10</c:v>
                </c:pt>
                <c:pt idx="9">
                  <c:v>4/12</c:v>
                </c:pt>
                <c:pt idx="10">
                  <c:v>4/14</c:v>
                </c:pt>
                <c:pt idx="11">
                  <c:v>4/15</c:v>
                </c:pt>
                <c:pt idx="12">
                  <c:v>4/17</c:v>
                </c:pt>
                <c:pt idx="13">
                  <c:v>4/18</c:v>
                </c:pt>
                <c:pt idx="14">
                  <c:v>4/20</c:v>
                </c:pt>
                <c:pt idx="15">
                  <c:v>4/22</c:v>
                </c:pt>
                <c:pt idx="16">
                  <c:v>4/23</c:v>
                </c:pt>
                <c:pt idx="17">
                  <c:v>4/25</c:v>
                </c:pt>
                <c:pt idx="18">
                  <c:v>4/26</c:v>
                </c:pt>
                <c:pt idx="19">
                  <c:v>4/28</c:v>
                </c:pt>
                <c:pt idx="20">
                  <c:v>4/30</c:v>
                </c:pt>
                <c:pt idx="21">
                  <c:v>5/1</c:v>
                </c:pt>
                <c:pt idx="22">
                  <c:v>5/3</c:v>
                </c:pt>
                <c:pt idx="23">
                  <c:v>5/4</c:v>
                </c:pt>
                <c:pt idx="24">
                  <c:v>5/6</c:v>
                </c:pt>
                <c:pt idx="25">
                  <c:v>5/8</c:v>
                </c:pt>
                <c:pt idx="26">
                  <c:v>5/9</c:v>
                </c:pt>
                <c:pt idx="27">
                  <c:v>5/11</c:v>
                </c:pt>
                <c:pt idx="28">
                  <c:v>5/13</c:v>
                </c:pt>
                <c:pt idx="29">
                  <c:v>5/14</c:v>
                </c:pt>
                <c:pt idx="30">
                  <c:v>5/15</c:v>
                </c:pt>
                <c:pt idx="31">
                  <c:v>5/16</c:v>
                </c:pt>
                <c:pt idx="32">
                  <c:v>5/17</c:v>
                </c:pt>
                <c:pt idx="33">
                  <c:v>5/18</c:v>
                </c:pt>
                <c:pt idx="34">
                  <c:v>5/19</c:v>
                </c:pt>
                <c:pt idx="35">
                  <c:v>5/20</c:v>
                </c:pt>
                <c:pt idx="36">
                  <c:v>5/21</c:v>
                </c:pt>
                <c:pt idx="37">
                  <c:v>5/22</c:v>
                </c:pt>
                <c:pt idx="38">
                  <c:v>5/23</c:v>
                </c:pt>
                <c:pt idx="39">
                  <c:v>5/24</c:v>
                </c:pt>
                <c:pt idx="40">
                  <c:v>5/25</c:v>
                </c:pt>
                <c:pt idx="41">
                  <c:v>5/26</c:v>
                </c:pt>
                <c:pt idx="42">
                  <c:v>5/27</c:v>
                </c:pt>
                <c:pt idx="43">
                  <c:v>5/28</c:v>
                </c:pt>
                <c:pt idx="44">
                  <c:v>5/29</c:v>
                </c:pt>
                <c:pt idx="45">
                  <c:v>5/30</c:v>
                </c:pt>
                <c:pt idx="46">
                  <c:v>5/31</c:v>
                </c:pt>
                <c:pt idx="47">
                  <c:v>6/1</c:v>
                </c:pt>
                <c:pt idx="48">
                  <c:v>6/2</c:v>
                </c:pt>
                <c:pt idx="49">
                  <c:v>6/3</c:v>
                </c:pt>
                <c:pt idx="50">
                  <c:v>6/4</c:v>
                </c:pt>
                <c:pt idx="51">
                  <c:v>6/5</c:v>
                </c:pt>
                <c:pt idx="52">
                  <c:v>6/6</c:v>
                </c:pt>
                <c:pt idx="53">
                  <c:v>6/7</c:v>
                </c:pt>
                <c:pt idx="54">
                  <c:v>6/8</c:v>
                </c:pt>
                <c:pt idx="55">
                  <c:v>6/9</c:v>
                </c:pt>
                <c:pt idx="56">
                  <c:v>6/10</c:v>
                </c:pt>
                <c:pt idx="57">
                  <c:v>6/11</c:v>
                </c:pt>
              </c:strCache>
            </c:strRef>
          </c:cat>
          <c:val>
            <c:numRef>
              <c:f>Sheet1!$C$2:$C$59</c:f>
              <c:numCache>
                <c:formatCode>General</c:formatCode>
                <c:ptCount val="58"/>
                <c:pt idx="0">
                  <c:v>1.01</c:v>
                </c:pt>
                <c:pt idx="1">
                  <c:v>15.21</c:v>
                </c:pt>
                <c:pt idx="2">
                  <c:v>8.5299999999999994</c:v>
                </c:pt>
                <c:pt idx="3">
                  <c:v>69.39</c:v>
                </c:pt>
                <c:pt idx="4">
                  <c:v>59.56</c:v>
                </c:pt>
                <c:pt idx="5">
                  <c:v>60.39</c:v>
                </c:pt>
                <c:pt idx="6">
                  <c:v>50.57</c:v>
                </c:pt>
                <c:pt idx="7">
                  <c:v>80.040000000000006</c:v>
                </c:pt>
                <c:pt idx="8">
                  <c:v>23.93</c:v>
                </c:pt>
                <c:pt idx="9">
                  <c:v>9.83</c:v>
                </c:pt>
                <c:pt idx="10">
                  <c:v>8.5399999999999991</c:v>
                </c:pt>
                <c:pt idx="11">
                  <c:v>18.38</c:v>
                </c:pt>
                <c:pt idx="12">
                  <c:v>39.5</c:v>
                </c:pt>
                <c:pt idx="13">
                  <c:v>27.25</c:v>
                </c:pt>
                <c:pt idx="14">
                  <c:v>0.08</c:v>
                </c:pt>
                <c:pt idx="15">
                  <c:v>13.66</c:v>
                </c:pt>
                <c:pt idx="16">
                  <c:v>53.79</c:v>
                </c:pt>
                <c:pt idx="17">
                  <c:v>8.5399999999999991</c:v>
                </c:pt>
                <c:pt idx="18">
                  <c:v>22.61</c:v>
                </c:pt>
                <c:pt idx="19">
                  <c:v>0</c:v>
                </c:pt>
                <c:pt idx="20">
                  <c:v>12.18</c:v>
                </c:pt>
                <c:pt idx="21">
                  <c:v>11.38</c:v>
                </c:pt>
                <c:pt idx="22">
                  <c:v>4.5599999999999996</c:v>
                </c:pt>
                <c:pt idx="23">
                  <c:v>27.87</c:v>
                </c:pt>
                <c:pt idx="24">
                  <c:v>86.84</c:v>
                </c:pt>
                <c:pt idx="25">
                  <c:v>0.49</c:v>
                </c:pt>
                <c:pt idx="26">
                  <c:v>4.4400000000000004</c:v>
                </c:pt>
                <c:pt idx="27">
                  <c:v>1.18</c:v>
                </c:pt>
                <c:pt idx="28">
                  <c:v>5.4</c:v>
                </c:pt>
                <c:pt idx="29">
                  <c:v>33.340000000000003</c:v>
                </c:pt>
                <c:pt idx="30">
                  <c:v>66.77</c:v>
                </c:pt>
                <c:pt idx="31">
                  <c:v>74.03</c:v>
                </c:pt>
                <c:pt idx="32">
                  <c:v>7.4</c:v>
                </c:pt>
                <c:pt idx="33">
                  <c:v>15.46</c:v>
                </c:pt>
                <c:pt idx="34">
                  <c:v>33.06</c:v>
                </c:pt>
                <c:pt idx="35">
                  <c:v>0</c:v>
                </c:pt>
                <c:pt idx="36">
                  <c:v>38.61</c:v>
                </c:pt>
                <c:pt idx="37">
                  <c:v>7.57</c:v>
                </c:pt>
                <c:pt idx="38">
                  <c:v>6.4</c:v>
                </c:pt>
                <c:pt idx="39">
                  <c:v>3.57</c:v>
                </c:pt>
                <c:pt idx="40">
                  <c:v>59.23</c:v>
                </c:pt>
                <c:pt idx="41">
                  <c:v>0.51</c:v>
                </c:pt>
                <c:pt idx="42">
                  <c:v>0.26</c:v>
                </c:pt>
                <c:pt idx="43">
                  <c:v>5.22</c:v>
                </c:pt>
                <c:pt idx="44">
                  <c:v>35.11</c:v>
                </c:pt>
                <c:pt idx="45">
                  <c:v>63.23</c:v>
                </c:pt>
                <c:pt idx="46">
                  <c:v>74.69</c:v>
                </c:pt>
                <c:pt idx="47">
                  <c:v>11.33</c:v>
                </c:pt>
                <c:pt idx="48">
                  <c:v>12.54</c:v>
                </c:pt>
                <c:pt idx="49">
                  <c:v>33.6</c:v>
                </c:pt>
                <c:pt idx="50">
                  <c:v>0.24</c:v>
                </c:pt>
                <c:pt idx="51">
                  <c:v>33.04</c:v>
                </c:pt>
                <c:pt idx="52">
                  <c:v>10.85</c:v>
                </c:pt>
                <c:pt idx="53">
                  <c:v>4.91</c:v>
                </c:pt>
                <c:pt idx="54">
                  <c:v>3.52</c:v>
                </c:pt>
                <c:pt idx="55">
                  <c:v>59.73</c:v>
                </c:pt>
                <c:pt idx="56">
                  <c:v>0.57999999999999996</c:v>
                </c:pt>
                <c:pt idx="57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4D6-4E37-BE8B-E293613FB4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개선 후 비율%</c:v>
                </c:pt>
              </c:strCache>
            </c:strRef>
          </c:tx>
          <c:spPr>
            <a:ln w="25400">
              <a:solidFill>
                <a:srgbClr val="F97316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3/29</c:v>
                </c:pt>
                <c:pt idx="1">
                  <c:v>3/30</c:v>
                </c:pt>
                <c:pt idx="2">
                  <c:v>4/1</c:v>
                </c:pt>
                <c:pt idx="3">
                  <c:v>4/2</c:v>
                </c:pt>
                <c:pt idx="4">
                  <c:v>4/4</c:v>
                </c:pt>
                <c:pt idx="5">
                  <c:v>4/6</c:v>
                </c:pt>
                <c:pt idx="6">
                  <c:v>4/7</c:v>
                </c:pt>
                <c:pt idx="7">
                  <c:v>4/9</c:v>
                </c:pt>
                <c:pt idx="8">
                  <c:v>4/10</c:v>
                </c:pt>
                <c:pt idx="9">
                  <c:v>4/12</c:v>
                </c:pt>
                <c:pt idx="10">
                  <c:v>4/14</c:v>
                </c:pt>
                <c:pt idx="11">
                  <c:v>4/15</c:v>
                </c:pt>
                <c:pt idx="12">
                  <c:v>4/17</c:v>
                </c:pt>
                <c:pt idx="13">
                  <c:v>4/18</c:v>
                </c:pt>
                <c:pt idx="14">
                  <c:v>4/20</c:v>
                </c:pt>
                <c:pt idx="15">
                  <c:v>4/22</c:v>
                </c:pt>
                <c:pt idx="16">
                  <c:v>4/23</c:v>
                </c:pt>
                <c:pt idx="17">
                  <c:v>4/25</c:v>
                </c:pt>
                <c:pt idx="18">
                  <c:v>4/26</c:v>
                </c:pt>
                <c:pt idx="19">
                  <c:v>4/28</c:v>
                </c:pt>
                <c:pt idx="20">
                  <c:v>4/30</c:v>
                </c:pt>
                <c:pt idx="21">
                  <c:v>5/1</c:v>
                </c:pt>
                <c:pt idx="22">
                  <c:v>5/3</c:v>
                </c:pt>
                <c:pt idx="23">
                  <c:v>5/4</c:v>
                </c:pt>
                <c:pt idx="24">
                  <c:v>5/6</c:v>
                </c:pt>
                <c:pt idx="25">
                  <c:v>5/8</c:v>
                </c:pt>
                <c:pt idx="26">
                  <c:v>5/9</c:v>
                </c:pt>
                <c:pt idx="27">
                  <c:v>5/11</c:v>
                </c:pt>
                <c:pt idx="28">
                  <c:v>5/13</c:v>
                </c:pt>
                <c:pt idx="29">
                  <c:v>5/14</c:v>
                </c:pt>
                <c:pt idx="30">
                  <c:v>5/15</c:v>
                </c:pt>
                <c:pt idx="31">
                  <c:v>5/16</c:v>
                </c:pt>
                <c:pt idx="32">
                  <c:v>5/17</c:v>
                </c:pt>
                <c:pt idx="33">
                  <c:v>5/18</c:v>
                </c:pt>
                <c:pt idx="34">
                  <c:v>5/19</c:v>
                </c:pt>
                <c:pt idx="35">
                  <c:v>5/20</c:v>
                </c:pt>
                <c:pt idx="36">
                  <c:v>5/21</c:v>
                </c:pt>
                <c:pt idx="37">
                  <c:v>5/22</c:v>
                </c:pt>
                <c:pt idx="38">
                  <c:v>5/23</c:v>
                </c:pt>
                <c:pt idx="39">
                  <c:v>5/24</c:v>
                </c:pt>
                <c:pt idx="40">
                  <c:v>5/25</c:v>
                </c:pt>
                <c:pt idx="41">
                  <c:v>5/26</c:v>
                </c:pt>
                <c:pt idx="42">
                  <c:v>5/27</c:v>
                </c:pt>
                <c:pt idx="43">
                  <c:v>5/28</c:v>
                </c:pt>
                <c:pt idx="44">
                  <c:v>5/29</c:v>
                </c:pt>
                <c:pt idx="45">
                  <c:v>5/30</c:v>
                </c:pt>
                <c:pt idx="46">
                  <c:v>5/31</c:v>
                </c:pt>
                <c:pt idx="47">
                  <c:v>6/1</c:v>
                </c:pt>
                <c:pt idx="48">
                  <c:v>6/2</c:v>
                </c:pt>
                <c:pt idx="49">
                  <c:v>6/3</c:v>
                </c:pt>
                <c:pt idx="50">
                  <c:v>6/4</c:v>
                </c:pt>
                <c:pt idx="51">
                  <c:v>6/5</c:v>
                </c:pt>
                <c:pt idx="52">
                  <c:v>6/6</c:v>
                </c:pt>
                <c:pt idx="53">
                  <c:v>6/7</c:v>
                </c:pt>
                <c:pt idx="54">
                  <c:v>6/8</c:v>
                </c:pt>
                <c:pt idx="55">
                  <c:v>6/9</c:v>
                </c:pt>
                <c:pt idx="56">
                  <c:v>6/10</c:v>
                </c:pt>
                <c:pt idx="57">
                  <c:v>6/11</c:v>
                </c:pt>
              </c:strCache>
            </c:strRef>
          </c:cat>
          <c:val>
            <c:numRef>
              <c:f>Sheet1!$D$2:$D$59</c:f>
              <c:numCache>
                <c:formatCode>General</c:formatCode>
                <c:ptCount val="5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3.9</c:v>
                </c:pt>
                <c:pt idx="29">
                  <c:v>31.69</c:v>
                </c:pt>
                <c:pt idx="30">
                  <c:v>61.95</c:v>
                </c:pt>
                <c:pt idx="31">
                  <c:v>69.89</c:v>
                </c:pt>
                <c:pt idx="32">
                  <c:v>4.5199999999999996</c:v>
                </c:pt>
                <c:pt idx="33">
                  <c:v>13.04</c:v>
                </c:pt>
                <c:pt idx="34">
                  <c:v>29.55</c:v>
                </c:pt>
                <c:pt idx="35">
                  <c:v>0</c:v>
                </c:pt>
                <c:pt idx="36">
                  <c:v>35.08</c:v>
                </c:pt>
                <c:pt idx="37">
                  <c:v>6.38</c:v>
                </c:pt>
                <c:pt idx="38">
                  <c:v>4.8</c:v>
                </c:pt>
                <c:pt idx="39">
                  <c:v>2.76</c:v>
                </c:pt>
                <c:pt idx="40">
                  <c:v>56.88</c:v>
                </c:pt>
                <c:pt idx="41">
                  <c:v>0.26</c:v>
                </c:pt>
                <c:pt idx="42">
                  <c:v>0.26</c:v>
                </c:pt>
                <c:pt idx="43">
                  <c:v>4.6500000000000004</c:v>
                </c:pt>
                <c:pt idx="44">
                  <c:v>32.450000000000003</c:v>
                </c:pt>
                <c:pt idx="45">
                  <c:v>59.43</c:v>
                </c:pt>
                <c:pt idx="46">
                  <c:v>70.739999999999995</c:v>
                </c:pt>
                <c:pt idx="47">
                  <c:v>8.36</c:v>
                </c:pt>
                <c:pt idx="48">
                  <c:v>11.11</c:v>
                </c:pt>
                <c:pt idx="49">
                  <c:v>29.25</c:v>
                </c:pt>
                <c:pt idx="50">
                  <c:v>0</c:v>
                </c:pt>
                <c:pt idx="51">
                  <c:v>28.98</c:v>
                </c:pt>
                <c:pt idx="52">
                  <c:v>6.61</c:v>
                </c:pt>
                <c:pt idx="53">
                  <c:v>4.21</c:v>
                </c:pt>
                <c:pt idx="54">
                  <c:v>2.91</c:v>
                </c:pt>
                <c:pt idx="55">
                  <c:v>57.65</c:v>
                </c:pt>
                <c:pt idx="56">
                  <c:v>0.28999999999999998</c:v>
                </c:pt>
                <c:pt idx="57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4D6-4E37-BE8B-E293613FB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ko-KR" altLang="en-US" sz="700"/>
                  <a:t>불량률</a:t>
                </a:r>
                <a:r>
                  <a:rPr lang="en-US" altLang="ko-KR" sz="700"/>
                  <a:t>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SHAP 중요도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49-4239-BE00-8F6F57A7DE34}"/>
              </c:ext>
            </c:extLst>
          </c:dPt>
          <c:dPt>
            <c:idx val="1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49-4239-BE00-8F6F57A7DE34}"/>
              </c:ext>
            </c:extLst>
          </c:dPt>
          <c:dPt>
            <c:idx val="2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F49-4239-BE00-8F6F57A7DE34}"/>
              </c:ext>
            </c:extLst>
          </c:dPt>
          <c:dPt>
            <c:idx val="3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0F49-4239-BE00-8F6F57A7DE34}"/>
              </c:ext>
            </c:extLst>
          </c:dPt>
          <c:dPt>
            <c:idx val="4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0F49-4239-BE00-8F6F57A7DE34}"/>
              </c:ext>
            </c:extLst>
          </c:dPt>
          <c:dPt>
            <c:idx val="5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0F49-4239-BE00-8F6F57A7DE34}"/>
              </c:ext>
            </c:extLst>
          </c:dPt>
          <c:dPt>
            <c:idx val="6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0F49-4239-BE00-8F6F57A7DE34}"/>
              </c:ext>
            </c:extLst>
          </c:dPt>
          <c:dPt>
            <c:idx val="7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0F49-4239-BE00-8F6F57A7DE34}"/>
              </c:ext>
            </c:extLst>
          </c:dPt>
          <c:dPt>
            <c:idx val="8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0F49-4239-BE00-8F6F57A7DE34}"/>
              </c:ext>
            </c:extLst>
          </c:dPt>
          <c:dPt>
            <c:idx val="9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0F49-4239-BE00-8F6F57A7DE34}"/>
              </c:ext>
            </c:extLst>
          </c:dPt>
          <c:dPt>
            <c:idx val="10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0F49-4239-BE00-8F6F57A7DE34}"/>
              </c:ext>
            </c:extLst>
          </c:dPt>
          <c:dPt>
            <c:idx val="11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0F49-4239-BE00-8F6F57A7DE34}"/>
              </c:ext>
            </c:extLst>
          </c:dPt>
          <c:dPt>
            <c:idx val="12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0F49-4239-BE00-8F6F57A7DE34}"/>
              </c:ext>
            </c:extLst>
          </c:dPt>
          <c:dPt>
            <c:idx val="13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0F49-4239-BE00-8F6F57A7DE34}"/>
              </c:ext>
            </c:extLst>
          </c:dPt>
          <c:dPt>
            <c:idx val="14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0F49-4239-BE00-8F6F57A7DE34}"/>
              </c:ext>
            </c:extLst>
          </c:dPt>
          <c:dPt>
            <c:idx val="15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0F49-4239-BE00-8F6F57A7DE34}"/>
              </c:ext>
            </c:extLst>
          </c:dPt>
          <c:dPt>
            <c:idx val="16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0F49-4239-BE00-8F6F57A7DE34}"/>
              </c:ext>
            </c:extLst>
          </c:dPt>
          <c:dPt>
            <c:idx val="17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0F49-4239-BE00-8F6F57A7DE34}"/>
              </c:ext>
            </c:extLst>
          </c:dPt>
          <c:dPt>
            <c:idx val="18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0F49-4239-BE00-8F6F57A7DE34}"/>
              </c:ext>
            </c:extLst>
          </c:dPt>
          <c:dPt>
            <c:idx val="19"/>
            <c:invertIfNegative val="1"/>
            <c:bubble3D val="0"/>
            <c:spPr>
              <a:solidFill>
                <a:srgbClr val="EF4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0F49-4239-BE00-8F6F57A7DE34}"/>
              </c:ext>
            </c:extLst>
          </c:dPt>
          <c:cat>
            <c:strRef>
              <c:f>Sheet1!$A$2:$A$21</c:f>
              <c:strCache>
                <c:ptCount val="20"/>
                <c:pt idx="0">
                  <c:v>X995_max</c:v>
                </c:pt>
                <c:pt idx="1">
                  <c:v>X594_min</c:v>
                </c:pt>
                <c:pt idx="2">
                  <c:v>X578_median</c:v>
                </c:pt>
                <c:pt idx="3">
                  <c:v>X660_mean</c:v>
                </c:pt>
                <c:pt idx="4">
                  <c:v>X999_min</c:v>
                </c:pt>
                <c:pt idx="5">
                  <c:v>X95_min</c:v>
                </c:pt>
                <c:pt idx="6">
                  <c:v>X725_min</c:v>
                </c:pt>
                <c:pt idx="7">
                  <c:v>X1085_max</c:v>
                </c:pt>
                <c:pt idx="8">
                  <c:v>X830_mean</c:v>
                </c:pt>
                <c:pt idx="9">
                  <c:v>X592_mean</c:v>
                </c:pt>
                <c:pt idx="10">
                  <c:v>X1066_mean</c:v>
                </c:pt>
                <c:pt idx="11">
                  <c:v>X1064_mean</c:v>
                </c:pt>
                <c:pt idx="12">
                  <c:v>X793_mean</c:v>
                </c:pt>
                <c:pt idx="13">
                  <c:v>X1060_mean</c:v>
                </c:pt>
                <c:pt idx="14">
                  <c:v>X250_min</c:v>
                </c:pt>
                <c:pt idx="15">
                  <c:v>X1083_mean</c:v>
                </c:pt>
                <c:pt idx="16">
                  <c:v>X578_mean</c:v>
                </c:pt>
                <c:pt idx="17">
                  <c:v>X1085_mean</c:v>
                </c:pt>
                <c:pt idx="18">
                  <c:v>X844_mean</c:v>
                </c:pt>
                <c:pt idx="19">
                  <c:v>X1049_mean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1.42E-5</c:v>
                </c:pt>
                <c:pt idx="1">
                  <c:v>1.485E-5</c:v>
                </c:pt>
                <c:pt idx="2">
                  <c:v>1.4970000000000001E-5</c:v>
                </c:pt>
                <c:pt idx="3">
                  <c:v>1.6399999999999999E-5</c:v>
                </c:pt>
                <c:pt idx="4">
                  <c:v>1.7010000000000001E-5</c:v>
                </c:pt>
                <c:pt idx="5">
                  <c:v>1.721E-5</c:v>
                </c:pt>
                <c:pt idx="6">
                  <c:v>1.8070000000000001E-5</c:v>
                </c:pt>
                <c:pt idx="7">
                  <c:v>2.2889999999999999E-5</c:v>
                </c:pt>
                <c:pt idx="8">
                  <c:v>2.3390000000000001E-5</c:v>
                </c:pt>
                <c:pt idx="9">
                  <c:v>2.4409999999999998E-5</c:v>
                </c:pt>
                <c:pt idx="10">
                  <c:v>3.1520000000000003E-5</c:v>
                </c:pt>
                <c:pt idx="11">
                  <c:v>3.1529999999999998E-5</c:v>
                </c:pt>
                <c:pt idx="12">
                  <c:v>3.5139999999999999E-5</c:v>
                </c:pt>
                <c:pt idx="13">
                  <c:v>4.2679999999999998E-5</c:v>
                </c:pt>
                <c:pt idx="14">
                  <c:v>5.7710000000000001E-5</c:v>
                </c:pt>
                <c:pt idx="15">
                  <c:v>5.9710000000000003E-5</c:v>
                </c:pt>
                <c:pt idx="16">
                  <c:v>9.2100000000000003E-5</c:v>
                </c:pt>
                <c:pt idx="17">
                  <c:v>1.0479E-4</c:v>
                </c:pt>
                <c:pt idx="18">
                  <c:v>1.5069000000000001E-4</c:v>
                </c:pt>
                <c:pt idx="19">
                  <c:v>2.8400000000000002E-4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0F49-4239-BE00-8F6F57A7DE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00"/>
                  <a:t>|SHAP| (mean abs)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7F2-4D02-9E99-20FD60CB1E43}"/>
              </c:ext>
            </c:extLst>
          </c:dPt>
          <c:dPt>
            <c:idx val="1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7F2-4D02-9E99-20FD60CB1E43}"/>
              </c:ext>
            </c:extLst>
          </c:dPt>
          <c:dPt>
            <c:idx val="2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7F2-4D02-9E99-20FD60CB1E43}"/>
              </c:ext>
            </c:extLst>
          </c:dPt>
          <c:dPt>
            <c:idx val="3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7F2-4D02-9E99-20FD60CB1E43}"/>
              </c:ext>
            </c:extLst>
          </c:dPt>
          <c:dPt>
            <c:idx val="4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57F2-4D02-9E99-20FD60CB1E43}"/>
              </c:ext>
            </c:extLst>
          </c:dPt>
          <c:dPt>
            <c:idx val="5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57F2-4D02-9E99-20FD60CB1E43}"/>
              </c:ext>
            </c:extLst>
          </c:dPt>
          <c:dPt>
            <c:idx val="6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57F2-4D02-9E99-20FD60CB1E43}"/>
              </c:ext>
            </c:extLst>
          </c:dPt>
          <c:dPt>
            <c:idx val="7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57F2-4D02-9E99-20FD60CB1E43}"/>
              </c:ext>
            </c:extLst>
          </c:dPt>
          <c:dPt>
            <c:idx val="8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57F2-4D02-9E99-20FD60CB1E43}"/>
              </c:ext>
            </c:extLst>
          </c:dPt>
          <c:dPt>
            <c:idx val="9"/>
            <c:invertIfNegative val="1"/>
            <c:bubble3D val="0"/>
            <c:spPr>
              <a:solidFill>
                <a:srgbClr val="3B82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57F2-4D02-9E99-20FD60CB1E43}"/>
              </c:ext>
            </c:extLst>
          </c:dPt>
          <c:dPt>
            <c:idx val="10"/>
            <c:invertIfNegative val="1"/>
            <c:bubble3D val="0"/>
            <c:spPr>
              <a:solidFill>
                <a:srgbClr val="6366F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57F2-4D02-9E99-20FD60CB1E43}"/>
              </c:ext>
            </c:extLst>
          </c:dPt>
          <c:dPt>
            <c:idx val="11"/>
            <c:invertIfNegative val="1"/>
            <c:bubble3D val="0"/>
            <c:spPr>
              <a:solidFill>
                <a:srgbClr val="6366F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57F2-4D02-9E99-20FD60CB1E43}"/>
              </c:ext>
            </c:extLst>
          </c:dPt>
          <c:dPt>
            <c:idx val="12"/>
            <c:invertIfNegative val="1"/>
            <c:bubble3D val="0"/>
            <c:spPr>
              <a:solidFill>
                <a:srgbClr val="6366F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57F2-4D02-9E99-20FD60CB1E43}"/>
              </c:ext>
            </c:extLst>
          </c:dPt>
          <c:dPt>
            <c:idx val="13"/>
            <c:invertIfNegative val="1"/>
            <c:bubble3D val="0"/>
            <c:spPr>
              <a:solidFill>
                <a:srgbClr val="6366F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57F2-4D02-9E99-20FD60CB1E43}"/>
              </c:ext>
            </c:extLst>
          </c:dPt>
          <c:dPt>
            <c:idx val="14"/>
            <c:invertIfNegative val="1"/>
            <c:bubble3D val="0"/>
            <c:spPr>
              <a:solidFill>
                <a:srgbClr val="6366F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57F2-4D02-9E99-20FD60CB1E43}"/>
              </c:ext>
            </c:extLst>
          </c:dPt>
          <c:cat>
            <c:strRef>
              <c:f>Sheet1!$A$2:$A$16</c:f>
              <c:strCache>
                <c:ptCount val="15"/>
                <c:pt idx="0">
                  <c:v>X67_std</c:v>
                </c:pt>
                <c:pt idx="1">
                  <c:v>X64_std</c:v>
                </c:pt>
                <c:pt idx="2">
                  <c:v>X1064_mean</c:v>
                </c:pt>
                <c:pt idx="3">
                  <c:v>X674_std</c:v>
                </c:pt>
                <c:pt idx="4">
                  <c:v>X79_std</c:v>
                </c:pt>
                <c:pt idx="5">
                  <c:v>X167_mean</c:v>
                </c:pt>
                <c:pt idx="6">
                  <c:v>X125_std</c:v>
                </c:pt>
                <c:pt idx="7">
                  <c:v>X146_max</c:v>
                </c:pt>
                <c:pt idx="8">
                  <c:v>X63_mean</c:v>
                </c:pt>
                <c:pt idx="9">
                  <c:v>X886_mean</c:v>
                </c:pt>
                <c:pt idx="10">
                  <c:v>X167_median</c:v>
                </c:pt>
                <c:pt idx="11">
                  <c:v>X40_median</c:v>
                </c:pt>
                <c:pt idx="12">
                  <c:v>X1031_range</c:v>
                </c:pt>
                <c:pt idx="13">
                  <c:v>X552_range</c:v>
                </c:pt>
                <c:pt idx="14">
                  <c:v>X178_mean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35</c:v>
                </c:pt>
                <c:pt idx="1">
                  <c:v>35</c:v>
                </c:pt>
                <c:pt idx="2">
                  <c:v>38</c:v>
                </c:pt>
                <c:pt idx="3">
                  <c:v>38</c:v>
                </c:pt>
                <c:pt idx="4">
                  <c:v>40</c:v>
                </c:pt>
                <c:pt idx="5">
                  <c:v>40</c:v>
                </c:pt>
                <c:pt idx="6">
                  <c:v>43</c:v>
                </c:pt>
                <c:pt idx="7">
                  <c:v>66</c:v>
                </c:pt>
                <c:pt idx="8">
                  <c:v>75</c:v>
                </c:pt>
                <c:pt idx="9">
                  <c:v>92</c:v>
                </c:pt>
                <c:pt idx="10">
                  <c:v>106</c:v>
                </c:pt>
                <c:pt idx="11">
                  <c:v>123</c:v>
                </c:pt>
                <c:pt idx="12">
                  <c:v>269</c:v>
                </c:pt>
                <c:pt idx="13">
                  <c:v>271</c:v>
                </c:pt>
                <c:pt idx="14">
                  <c:v>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7F2-4D02-9E99-20FD60CB1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00"/>
                  <a:t>Importance (gain)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현재</c:v>
                </c:pt>
              </c:strCache>
            </c:strRef>
          </c:tx>
          <c:spPr>
            <a:solidFill>
              <a:srgbClr val="EF4444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0.00249</c:v>
                </c:pt>
                <c:pt idx="1">
                  <c:v>0.00259</c:v>
                </c:pt>
                <c:pt idx="2">
                  <c:v>0.00269</c:v>
                </c:pt>
                <c:pt idx="3">
                  <c:v>0.00279</c:v>
                </c:pt>
                <c:pt idx="4">
                  <c:v>0.00290</c:v>
                </c:pt>
                <c:pt idx="5">
                  <c:v>0.00300</c:v>
                </c:pt>
                <c:pt idx="6">
                  <c:v>0.00310</c:v>
                </c:pt>
                <c:pt idx="7">
                  <c:v>0.00320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9</c:v>
                </c:pt>
                <c:pt idx="2">
                  <c:v>10</c:v>
                </c:pt>
                <c:pt idx="3">
                  <c:v>8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530-458A-8AAE-99F35EB347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조정 후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0.00249</c:v>
                </c:pt>
                <c:pt idx="1">
                  <c:v>0.00259</c:v>
                </c:pt>
                <c:pt idx="2">
                  <c:v>0.00269</c:v>
                </c:pt>
                <c:pt idx="3">
                  <c:v>0.00279</c:v>
                </c:pt>
                <c:pt idx="4">
                  <c:v>0.00290</c:v>
                </c:pt>
                <c:pt idx="5">
                  <c:v>0.00300</c:v>
                </c:pt>
                <c:pt idx="6">
                  <c:v>0.00310</c:v>
                </c:pt>
                <c:pt idx="7">
                  <c:v>0.00320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</c:v>
                </c:pt>
                <c:pt idx="1">
                  <c:v>9</c:v>
                </c:pt>
                <c:pt idx="2">
                  <c:v>10</c:v>
                </c:pt>
                <c:pt idx="3">
                  <c:v>8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530-458A-8AAE-99F35EB347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5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2FAF-DF5C-8E84-C2E1-BCD30ED9D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AD875-4970-E685-4EC6-F635FB7AC3F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9A3E6-0385-EB54-B86F-21CEF6598F27}"/>
              </a:ext>
            </a:extLst>
          </p:cNvPr>
          <p:cNvSpPr txBox="1"/>
          <p:nvPr/>
        </p:nvSpPr>
        <p:spPr>
          <a:xfrm>
            <a:off x="137160" y="91440"/>
            <a:ext cx="92934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Field Health 불량 예측 분석 보고서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021376-7B09-F225-C8C5-FC279314E547}"/>
              </a:ext>
            </a:extLst>
          </p:cNvPr>
          <p:cNvSpPr/>
          <p:nvPr/>
        </p:nvSpPr>
        <p:spPr>
          <a:xfrm>
            <a:off x="137160" y="402336"/>
            <a:ext cx="11914632" cy="2011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9E236-D1B3-84BA-3719-DD8945C60BE3}"/>
              </a:ext>
            </a:extLst>
          </p:cNvPr>
          <p:cNvSpPr/>
          <p:nvPr/>
        </p:nvSpPr>
        <p:spPr>
          <a:xfrm>
            <a:off x="11091672" y="109728"/>
            <a:ext cx="960120" cy="256032"/>
          </a:xfrm>
          <a:prstGeom prst="rect">
            <a:avLst/>
          </a:prstGeom>
          <a:solidFill>
            <a:srgbClr val="DC2626"/>
          </a:solidFill>
          <a:ln w="1016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B25B7-E1EF-CB3B-E930-EA5453DA6588}"/>
              </a:ext>
            </a:extLst>
          </p:cNvPr>
          <p:cNvSpPr txBox="1"/>
          <p:nvPr/>
        </p:nvSpPr>
        <p:spPr>
          <a:xfrm>
            <a:off x="11091672" y="10972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대외비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509FE-BB30-FD06-8411-ACB2183F952B}"/>
              </a:ext>
            </a:extLst>
          </p:cNvPr>
          <p:cNvSpPr txBox="1"/>
          <p:nvPr/>
        </p:nvSpPr>
        <p:spPr>
          <a:xfrm>
            <a:off x="137160" y="438912"/>
            <a:ext cx="119146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예측 불량 비율 임계값 y_pred &gt;= 0.003412  (train 실제 불량률 29.2% 기준 역산)  Val RMSE 0.005736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B17C5-3E3D-F96E-1C79-C830099BBAC9}"/>
              </a:ext>
            </a:extLst>
          </p:cNvPr>
          <p:cNvSpPr txBox="1"/>
          <p:nvPr/>
        </p:nvSpPr>
        <p:spPr>
          <a:xfrm>
            <a:off x="137160" y="585216"/>
            <a:ext cx="119146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</a:rPr>
              <a:t>Two-Stage 모델  Val RMSE 0.005736  Test RMSE 0.008427  상위 5개 피처 SHAP 분석 및 공정 개선 방안 수립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7FAA3-7381-926A-3DC2-B3A5216F28CE}"/>
              </a:ext>
            </a:extLst>
          </p:cNvPr>
          <p:cNvSpPr/>
          <p:nvPr/>
        </p:nvSpPr>
        <p:spPr>
          <a:xfrm>
            <a:off x="137160" y="768096"/>
            <a:ext cx="5669280" cy="201168"/>
          </a:xfrm>
          <a:prstGeom prst="rect">
            <a:avLst/>
          </a:prstGeom>
          <a:solidFill>
            <a:srgbClr val="D1D9E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D4552-AC1C-DE5C-1D73-D3F55C4A38F1}"/>
              </a:ext>
            </a:extLst>
          </p:cNvPr>
          <p:cNvSpPr txBox="1"/>
          <p:nvPr/>
        </p:nvSpPr>
        <p:spPr>
          <a:xfrm>
            <a:off x="137160" y="76809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[ 불량 현황 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436E1-087E-B381-9983-8F643149C0E6}"/>
              </a:ext>
            </a:extLst>
          </p:cNvPr>
          <p:cNvSpPr/>
          <p:nvPr/>
        </p:nvSpPr>
        <p:spPr>
          <a:xfrm>
            <a:off x="137160" y="987552"/>
            <a:ext cx="18288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44C937-BBBC-794B-B2A7-DFBB7F4659DC}"/>
              </a:ext>
            </a:extLst>
          </p:cNvPr>
          <p:cNvSpPr txBox="1"/>
          <p:nvPr/>
        </p:nvSpPr>
        <p:spPr>
          <a:xfrm>
            <a:off x="182880" y="1005840"/>
            <a:ext cx="1737360" cy="114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기준일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0276A-C605-A4D2-4547-A93407B8E932}"/>
              </a:ext>
            </a:extLst>
          </p:cNvPr>
          <p:cNvSpPr txBox="1"/>
          <p:nvPr/>
        </p:nvSpPr>
        <p:spPr>
          <a:xfrm>
            <a:off x="182880" y="1119957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3A8A"/>
                </a:solidFill>
              </a:rPr>
              <a:t>6월 11일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56FF6-2DCE-6E80-A943-BC066D4736EA}"/>
              </a:ext>
            </a:extLst>
          </p:cNvPr>
          <p:cNvSpPr txBox="1"/>
          <p:nvPr/>
        </p:nvSpPr>
        <p:spPr>
          <a:xfrm>
            <a:off x="182880" y="1294058"/>
            <a:ext cx="1737360" cy="114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75569"/>
                </a:solidFill>
              </a:rPr>
              <a:t>최신 1일 기준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56DD1B-24A0-7CAB-D939-D1D0157D97E0}"/>
              </a:ext>
            </a:extLst>
          </p:cNvPr>
          <p:cNvSpPr/>
          <p:nvPr/>
        </p:nvSpPr>
        <p:spPr>
          <a:xfrm>
            <a:off x="2002536" y="987552"/>
            <a:ext cx="18288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55E3A2-1D2E-1AF5-7522-212B2A10FA99}"/>
              </a:ext>
            </a:extLst>
          </p:cNvPr>
          <p:cNvSpPr txBox="1"/>
          <p:nvPr/>
        </p:nvSpPr>
        <p:spPr>
          <a:xfrm>
            <a:off x="2048255" y="1005840"/>
            <a:ext cx="1737360" cy="114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분석 유닛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94B444-1C33-C9EB-EC6C-652E3F37B652}"/>
              </a:ext>
            </a:extLst>
          </p:cNvPr>
          <p:cNvSpPr txBox="1"/>
          <p:nvPr/>
        </p:nvSpPr>
        <p:spPr>
          <a:xfrm>
            <a:off x="2048255" y="1119957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399개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CD198E-7BBC-B19A-74FC-AA33E5DDCA99}"/>
              </a:ext>
            </a:extLst>
          </p:cNvPr>
          <p:cNvSpPr txBox="1"/>
          <p:nvPr/>
        </p:nvSpPr>
        <p:spPr>
          <a:xfrm>
            <a:off x="2048255" y="1294058"/>
            <a:ext cx="1737360" cy="114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75569"/>
                </a:solidFill>
              </a:rPr>
              <a:t>last lot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7D27C-4C6B-A286-9032-B12976D63BB7}"/>
              </a:ext>
            </a:extLst>
          </p:cNvPr>
          <p:cNvSpPr/>
          <p:nvPr/>
        </p:nvSpPr>
        <p:spPr>
          <a:xfrm>
            <a:off x="3867912" y="987552"/>
            <a:ext cx="18288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6608D-0D3F-4ECA-3AF1-D3137A12050E}"/>
              </a:ext>
            </a:extLst>
          </p:cNvPr>
          <p:cNvSpPr txBox="1"/>
          <p:nvPr/>
        </p:nvSpPr>
        <p:spPr>
          <a:xfrm>
            <a:off x="3913632" y="1005840"/>
            <a:ext cx="1737360" cy="114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예측 불량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7041A-EEA0-C1E1-9038-789D5E76D87F}"/>
              </a:ext>
            </a:extLst>
          </p:cNvPr>
          <p:cNvSpPr txBox="1"/>
          <p:nvPr/>
        </p:nvSpPr>
        <p:spPr>
          <a:xfrm>
            <a:off x="3913632" y="1119957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0개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1120CB-14CD-B825-FB31-D526A20EFCF8}"/>
              </a:ext>
            </a:extLst>
          </p:cNvPr>
          <p:cNvSpPr txBox="1"/>
          <p:nvPr/>
        </p:nvSpPr>
        <p:spPr>
          <a:xfrm>
            <a:off x="3913632" y="1294058"/>
            <a:ext cx="1737360" cy="114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75569"/>
                </a:solidFill>
              </a:rPr>
              <a:t>0.0% (&gt;=0.003412)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6E73F8-3EC3-551A-755E-FDF85F604767}"/>
              </a:ext>
            </a:extLst>
          </p:cNvPr>
          <p:cNvSpPr txBox="1"/>
          <p:nvPr/>
        </p:nvSpPr>
        <p:spPr>
          <a:xfrm>
            <a:off x="137160" y="1463040"/>
            <a:ext cx="340156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1. 불량률 트렌드 (Train 45일 / Val 15일 / Test 15일)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EF0C8E-A65D-679D-4796-8DF3BD8D8303}"/>
              </a:ext>
            </a:extLst>
          </p:cNvPr>
          <p:cNvSpPr txBox="1"/>
          <p:nvPr/>
        </p:nvSpPr>
        <p:spPr>
          <a:xfrm>
            <a:off x="3538727" y="1463040"/>
            <a:ext cx="22677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F97316"/>
                </a:solidFill>
              </a:rPr>
              <a:t>주황 점선: 개선 후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716D45A8-FA25-224C-1BC4-CA11C9A52A9E}"/>
              </a:ext>
            </a:extLst>
          </p:cNvPr>
          <p:cNvGraphicFramePr>
            <a:graphicFrameLocks noGrp="1"/>
          </p:cNvGraphicFramePr>
          <p:nvPr/>
        </p:nvGraphicFramePr>
        <p:xfrm>
          <a:off x="137160" y="1609344"/>
          <a:ext cx="5669280" cy="1078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447075DE-8970-F68E-8A17-155F656647AD}"/>
              </a:ext>
            </a:extLst>
          </p:cNvPr>
          <p:cNvSpPr/>
          <p:nvPr/>
        </p:nvSpPr>
        <p:spPr>
          <a:xfrm>
            <a:off x="137160" y="2734056"/>
            <a:ext cx="5669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B8EF26-79DB-4CB1-87F6-AD3E42F2A399}"/>
              </a:ext>
            </a:extLst>
          </p:cNvPr>
          <p:cNvSpPr txBox="1"/>
          <p:nvPr/>
        </p:nvSpPr>
        <p:spPr>
          <a:xfrm>
            <a:off x="6349745" y="1930406"/>
            <a:ext cx="272125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2. SHAP 분석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221384-8867-0A7F-281C-C56DFFB45E2E}"/>
              </a:ext>
            </a:extLst>
          </p:cNvPr>
          <p:cNvSpPr txBox="1"/>
          <p:nvPr/>
        </p:nvSpPr>
        <p:spPr>
          <a:xfrm>
            <a:off x="9070999" y="1930406"/>
            <a:ext cx="294802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TreeSHAP · 서로게이트 LightGBM (R²=0.7714) · TOP 20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6E2EAFFF-B047-78EB-5206-ACCB76514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714872"/>
              </p:ext>
            </p:extLst>
          </p:nvPr>
        </p:nvGraphicFramePr>
        <p:xfrm>
          <a:off x="6349745" y="2085854"/>
          <a:ext cx="56692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42CBC733-DFDA-8513-AEEE-4C67B79AF21A}"/>
              </a:ext>
            </a:extLst>
          </p:cNvPr>
          <p:cNvSpPr/>
          <p:nvPr/>
        </p:nvSpPr>
        <p:spPr>
          <a:xfrm>
            <a:off x="10555985" y="2113286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89B81A-0DFF-2B64-4E99-6F3E628E5CD3}"/>
              </a:ext>
            </a:extLst>
          </p:cNvPr>
          <p:cNvSpPr txBox="1"/>
          <p:nvPr/>
        </p:nvSpPr>
        <p:spPr>
          <a:xfrm>
            <a:off x="10674857" y="2113286"/>
            <a:ext cx="685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위험 증가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31A394-4F7B-23E9-8E09-079D9C00552D}"/>
              </a:ext>
            </a:extLst>
          </p:cNvPr>
          <p:cNvSpPr/>
          <p:nvPr/>
        </p:nvSpPr>
        <p:spPr>
          <a:xfrm>
            <a:off x="11360657" y="211328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1CD249-C77E-D283-C29D-E25145A839BD}"/>
              </a:ext>
            </a:extLst>
          </p:cNvPr>
          <p:cNvSpPr txBox="1"/>
          <p:nvPr/>
        </p:nvSpPr>
        <p:spPr>
          <a:xfrm>
            <a:off x="11479529" y="2113286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위험 감소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A3F19D-5CF6-C3B0-628E-D0D7FD4351B6}"/>
              </a:ext>
            </a:extLst>
          </p:cNvPr>
          <p:cNvSpPr/>
          <p:nvPr/>
        </p:nvSpPr>
        <p:spPr>
          <a:xfrm>
            <a:off x="6349745" y="3503174"/>
            <a:ext cx="5669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210A02-F6AA-E78F-D27F-0975A49DD7CD}"/>
              </a:ext>
            </a:extLst>
          </p:cNvPr>
          <p:cNvSpPr txBox="1"/>
          <p:nvPr/>
        </p:nvSpPr>
        <p:spPr>
          <a:xfrm>
            <a:off x="6349745" y="3567182"/>
            <a:ext cx="272125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3. 피처 임포턴스 Top 15</a:t>
            </a: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B40D7579-D83D-1E29-B2E1-C0CB4CCEC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355379"/>
              </p:ext>
            </p:extLst>
          </p:nvPr>
        </p:nvGraphicFramePr>
        <p:xfrm>
          <a:off x="6349745" y="3722630"/>
          <a:ext cx="5669280" cy="2039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2A4A58B2-931F-BA00-8C36-9049BDF930C5}"/>
              </a:ext>
            </a:extLst>
          </p:cNvPr>
          <p:cNvSpPr/>
          <p:nvPr/>
        </p:nvSpPr>
        <p:spPr>
          <a:xfrm>
            <a:off x="10464545" y="3750062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4BC81C-D0A4-A2EE-0602-2D9E988E6CF1}"/>
              </a:ext>
            </a:extLst>
          </p:cNvPr>
          <p:cNvSpPr txBox="1"/>
          <p:nvPr/>
        </p:nvSpPr>
        <p:spPr>
          <a:xfrm>
            <a:off x="10583417" y="375006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SHAP 분석 피처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2AAEA6-DEB2-4206-1E0A-3981774B7308}"/>
              </a:ext>
            </a:extLst>
          </p:cNvPr>
          <p:cNvSpPr/>
          <p:nvPr/>
        </p:nvSpPr>
        <p:spPr>
          <a:xfrm>
            <a:off x="11470385" y="375006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ABE9A1-29BD-33F1-B312-085D9B769956}"/>
              </a:ext>
            </a:extLst>
          </p:cNvPr>
          <p:cNvSpPr txBox="1"/>
          <p:nvPr/>
        </p:nvSpPr>
        <p:spPr>
          <a:xfrm>
            <a:off x="11589257" y="3750062"/>
            <a:ext cx="3931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기타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AACEC8-20C8-87C1-FB46-D7F4B990F389}"/>
              </a:ext>
            </a:extLst>
          </p:cNvPr>
          <p:cNvSpPr/>
          <p:nvPr/>
        </p:nvSpPr>
        <p:spPr>
          <a:xfrm>
            <a:off x="5897880" y="768096"/>
            <a:ext cx="6153912" cy="201168"/>
          </a:xfrm>
          <a:prstGeom prst="rect">
            <a:avLst/>
          </a:prstGeom>
          <a:solidFill>
            <a:srgbClr val="D1D9E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2AAD0D-1F02-93AC-76D8-E537DF26DB56}"/>
              </a:ext>
            </a:extLst>
          </p:cNvPr>
          <p:cNvSpPr txBox="1"/>
          <p:nvPr/>
        </p:nvSpPr>
        <p:spPr>
          <a:xfrm>
            <a:off x="5897880" y="768096"/>
            <a:ext cx="6153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[ 이력 및 대책 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CD3CE4-3EAC-4F45-A5E6-BEE19A7B5635}"/>
              </a:ext>
            </a:extLst>
          </p:cNvPr>
          <p:cNvSpPr txBox="1"/>
          <p:nvPr/>
        </p:nvSpPr>
        <p:spPr>
          <a:xfrm>
            <a:off x="5897880" y="987552"/>
            <a:ext cx="29538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1. 모델 성능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F979E8-9C47-E8BA-9ACC-0CF9F99F1ED3}"/>
              </a:ext>
            </a:extLst>
          </p:cNvPr>
          <p:cNvSpPr txBox="1"/>
          <p:nvPr/>
        </p:nvSpPr>
        <p:spPr>
          <a:xfrm>
            <a:off x="8851757" y="987552"/>
            <a:ext cx="32000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Study: 20-101-002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296F6A1-1594-2DBC-1B22-73ACAA90423E}"/>
              </a:ext>
            </a:extLst>
          </p:cNvPr>
          <p:cNvSpPr/>
          <p:nvPr/>
        </p:nvSpPr>
        <p:spPr>
          <a:xfrm>
            <a:off x="5897880" y="1143000"/>
            <a:ext cx="6153912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7BDAB9-181B-090F-0D4E-F1D3AEC47894}"/>
              </a:ext>
            </a:extLst>
          </p:cNvPr>
          <p:cNvSpPr txBox="1"/>
          <p:nvPr/>
        </p:nvSpPr>
        <p:spPr>
          <a:xfrm>
            <a:off x="5989320" y="1170432"/>
            <a:ext cx="5971031" cy="30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0.005736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E58DD1-5EC0-4952-4E5B-C6DAD0212946}"/>
              </a:ext>
            </a:extLst>
          </p:cNvPr>
          <p:cNvSpPr txBox="1"/>
          <p:nvPr/>
        </p:nvSpPr>
        <p:spPr>
          <a:xfrm>
            <a:off x="5989320" y="1454261"/>
            <a:ext cx="5971031" cy="100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Val RMSE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1ABE3E-285D-0516-33A9-739A4456A863}"/>
              </a:ext>
            </a:extLst>
          </p:cNvPr>
          <p:cNvSpPr/>
          <p:nvPr/>
        </p:nvSpPr>
        <p:spPr>
          <a:xfrm>
            <a:off x="5897880" y="1618488"/>
            <a:ext cx="6153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4CB1AF-D9EC-6202-572C-EA73C7C4FD5F}"/>
              </a:ext>
            </a:extLst>
          </p:cNvPr>
          <p:cNvSpPr txBox="1"/>
          <p:nvPr/>
        </p:nvSpPr>
        <p:spPr>
          <a:xfrm>
            <a:off x="5897880" y="1682496"/>
            <a:ext cx="29538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2. 위험 집중 Wafer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2511F2-4428-1AD9-E815-B28482990803}"/>
              </a:ext>
            </a:extLst>
          </p:cNvPr>
          <p:cNvSpPr txBox="1"/>
          <p:nvPr/>
        </p:nvSpPr>
        <p:spPr>
          <a:xfrm>
            <a:off x="8851757" y="1682496"/>
            <a:ext cx="32000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(Test 기준 · 예측 불량률 &gt;= 30%)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29A6EDA-6BD3-0038-5AF4-E25492A01D78}"/>
              </a:ext>
            </a:extLst>
          </p:cNvPr>
          <p:cNvGraphicFramePr>
            <a:graphicFrameLocks noGrp="1"/>
          </p:cNvGraphicFramePr>
          <p:nvPr/>
        </p:nvGraphicFramePr>
        <p:xfrm>
          <a:off x="5897880" y="1837944"/>
          <a:ext cx="6153911" cy="154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529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475569"/>
                          </a:solidFill>
                        </a:rPr>
                        <a:t>Lot-Wafer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475569"/>
                          </a:solidFill>
                        </a:rPr>
                        <a:t>예측 불량률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475569"/>
                          </a:solidFill>
                        </a:rPr>
                        <a:t>유닛 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2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</a:rPr>
                        <a:t>0000027-10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B82F6"/>
                          </a:solidFill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94A3B8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52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</a:rPr>
                        <a:t>0000027-12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B82F6"/>
                          </a:solidFill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94A3B8"/>
                          </a:solidFill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52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</a:rPr>
                        <a:t>0000027-14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B82F6"/>
                          </a:solidFill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94A3B8"/>
                          </a:solidFill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52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</a:rPr>
                        <a:t>0000027-15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B82F6"/>
                          </a:solidFill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94A3B8"/>
                          </a:solidFill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52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</a:rPr>
                        <a:t>0000027-16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B82F6"/>
                          </a:solidFill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94A3B8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5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293B"/>
                          </a:solidFill>
                        </a:rPr>
                        <a:t>0000027-18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B82F6"/>
                          </a:solidFill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94A3B8"/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AD3909D5-D1E0-EFCD-E4E0-78370E8019C0}"/>
              </a:ext>
            </a:extLst>
          </p:cNvPr>
          <p:cNvSpPr/>
          <p:nvPr/>
        </p:nvSpPr>
        <p:spPr>
          <a:xfrm>
            <a:off x="5897880" y="2953512"/>
            <a:ext cx="6153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E08262-E766-C86A-5F6E-C40E59FF6D5A}"/>
              </a:ext>
            </a:extLst>
          </p:cNvPr>
          <p:cNvSpPr txBox="1"/>
          <p:nvPr/>
        </p:nvSpPr>
        <p:spPr>
          <a:xfrm>
            <a:off x="5897880" y="3017520"/>
            <a:ext cx="29538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3. 고위험 피처 분포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43289E-835C-43DB-B247-0B81981D46A2}"/>
              </a:ext>
            </a:extLst>
          </p:cNvPr>
          <p:cNvSpPr txBox="1"/>
          <p:nvPr/>
        </p:nvSpPr>
        <p:spPr>
          <a:xfrm>
            <a:off x="8851757" y="3017520"/>
            <a:ext cx="32000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고위험(&gt;=0.0038) vs 저위험(&lt;0.002)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631DAF-6BD8-4553-6E0F-076DCF79A9C7}"/>
              </a:ext>
            </a:extLst>
          </p:cNvPr>
          <p:cNvSpPr txBox="1"/>
          <p:nvPr/>
        </p:nvSpPr>
        <p:spPr>
          <a:xfrm>
            <a:off x="5934456" y="3172968"/>
            <a:ext cx="197815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8A"/>
                </a:solidFill>
              </a:rPr>
              <a:t>X178_mean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E0E3AD-F15D-3BA2-E52C-022BD8EA0B61}"/>
              </a:ext>
            </a:extLst>
          </p:cNvPr>
          <p:cNvSpPr txBox="1"/>
          <p:nvPr/>
        </p:nvSpPr>
        <p:spPr>
          <a:xfrm>
            <a:off x="5934456" y="3328416"/>
            <a:ext cx="197815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r(y_pred)=+0.0002  mean 집계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C01700F-0245-B118-0314-EF5FB256108E}"/>
              </a:ext>
            </a:extLst>
          </p:cNvPr>
          <p:cNvSpPr/>
          <p:nvPr/>
        </p:nvSpPr>
        <p:spPr>
          <a:xfrm>
            <a:off x="6161532" y="3483864"/>
            <a:ext cx="1357068" cy="8961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B71CED-827A-CFDB-E12A-2A103D20DF5A}"/>
              </a:ext>
            </a:extLst>
          </p:cNvPr>
          <p:cNvSpPr txBox="1"/>
          <p:nvPr/>
        </p:nvSpPr>
        <p:spPr>
          <a:xfrm>
            <a:off x="12183617" y="2687894"/>
            <a:ext cx="190499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EF4444"/>
                </a:solidFill>
              </a:rPr>
              <a:t>고위험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A6D04A8-469B-132C-48F5-740C2C13B7B2}"/>
              </a:ext>
            </a:extLst>
          </p:cNvPr>
          <p:cNvSpPr/>
          <p:nvPr/>
        </p:nvSpPr>
        <p:spPr>
          <a:xfrm>
            <a:off x="12792456" y="2852669"/>
            <a:ext cx="108565" cy="109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FE7B6FC-B781-53ED-79D1-3DB12E51BD4B}"/>
              </a:ext>
            </a:extLst>
          </p:cNvPr>
          <p:cNvSpPr/>
          <p:nvPr/>
        </p:nvSpPr>
        <p:spPr>
          <a:xfrm>
            <a:off x="12901021" y="2798564"/>
            <a:ext cx="398073" cy="119182"/>
          </a:xfrm>
          <a:prstGeom prst="rect">
            <a:avLst/>
          </a:prstGeom>
          <a:solidFill>
            <a:srgbClr val="FBD0D0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42E5B02-2940-B7F8-C93E-2CD8AA0FC9B5}"/>
              </a:ext>
            </a:extLst>
          </p:cNvPr>
          <p:cNvSpPr/>
          <p:nvPr/>
        </p:nvSpPr>
        <p:spPr>
          <a:xfrm>
            <a:off x="13109008" y="2798564"/>
            <a:ext cx="18288" cy="1191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6A39824-A908-614B-6C0B-592C1E2E8037}"/>
              </a:ext>
            </a:extLst>
          </p:cNvPr>
          <p:cNvSpPr/>
          <p:nvPr/>
        </p:nvSpPr>
        <p:spPr>
          <a:xfrm>
            <a:off x="13299095" y="2852669"/>
            <a:ext cx="146563" cy="109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85BDE9-D973-9EEE-046C-F6D2C829F105}"/>
              </a:ext>
            </a:extLst>
          </p:cNvPr>
          <p:cNvSpPr txBox="1"/>
          <p:nvPr/>
        </p:nvSpPr>
        <p:spPr>
          <a:xfrm>
            <a:off x="6923855" y="3555552"/>
            <a:ext cx="502920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75569"/>
                </a:solidFill>
              </a:rPr>
              <a:t>Med:5.0010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8E0E26-53BD-AFFB-492C-D165C44D2716}"/>
              </a:ext>
            </a:extLst>
          </p:cNvPr>
          <p:cNvSpPr txBox="1"/>
          <p:nvPr/>
        </p:nvSpPr>
        <p:spPr>
          <a:xfrm>
            <a:off x="12183617" y="3100106"/>
            <a:ext cx="190499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22C55E"/>
                </a:solidFill>
              </a:rPr>
              <a:t>저위험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49391A2-F983-87F9-8BBA-2778E68041EE}"/>
              </a:ext>
            </a:extLst>
          </p:cNvPr>
          <p:cNvSpPr/>
          <p:nvPr/>
        </p:nvSpPr>
        <p:spPr>
          <a:xfrm>
            <a:off x="12761695" y="3264881"/>
            <a:ext cx="121231" cy="109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241ABB5-5DF8-3585-E521-6ECB58E0E931}"/>
              </a:ext>
            </a:extLst>
          </p:cNvPr>
          <p:cNvSpPr/>
          <p:nvPr/>
        </p:nvSpPr>
        <p:spPr>
          <a:xfrm>
            <a:off x="12882927" y="3210776"/>
            <a:ext cx="339086" cy="119182"/>
          </a:xfrm>
          <a:prstGeom prst="rect">
            <a:avLst/>
          </a:prstGeom>
          <a:solidFill>
            <a:srgbClr val="C7F0D6"/>
          </a:solidFill>
          <a:ln w="76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8F16EFD-5836-3134-9560-67E9D5CF54A8}"/>
              </a:ext>
            </a:extLst>
          </p:cNvPr>
          <p:cNvSpPr/>
          <p:nvPr/>
        </p:nvSpPr>
        <p:spPr>
          <a:xfrm>
            <a:off x="13054725" y="3210776"/>
            <a:ext cx="18288" cy="1191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593F90B-120A-EE8A-B963-13D4B12279E7}"/>
              </a:ext>
            </a:extLst>
          </p:cNvPr>
          <p:cNvSpPr/>
          <p:nvPr/>
        </p:nvSpPr>
        <p:spPr>
          <a:xfrm>
            <a:off x="13222013" y="3264881"/>
            <a:ext cx="221835" cy="109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5B9AFC-4FC1-207B-3D25-48DD67E765FC}"/>
              </a:ext>
            </a:extLst>
          </p:cNvPr>
          <p:cNvSpPr txBox="1"/>
          <p:nvPr/>
        </p:nvSpPr>
        <p:spPr>
          <a:xfrm>
            <a:off x="6869572" y="3967764"/>
            <a:ext cx="502920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75569"/>
                </a:solidFill>
              </a:rPr>
              <a:t>Med:4.9995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05B52E-8CC4-C6B7-E6C4-2308B8E36A0A}"/>
              </a:ext>
            </a:extLst>
          </p:cNvPr>
          <p:cNvSpPr txBox="1"/>
          <p:nvPr/>
        </p:nvSpPr>
        <p:spPr>
          <a:xfrm>
            <a:off x="5971032" y="4233672"/>
            <a:ext cx="19049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75569"/>
                </a:solidFill>
              </a:rPr>
              <a:t>정상 범위: 4.98044 ~ 5.01794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87794DC-0766-76A2-A27F-AD9AD5D03536}"/>
              </a:ext>
            </a:extLst>
          </p:cNvPr>
          <p:cNvSpPr/>
          <p:nvPr/>
        </p:nvSpPr>
        <p:spPr>
          <a:xfrm>
            <a:off x="7940040" y="3172968"/>
            <a:ext cx="9144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F1A7A1-5E48-4096-AD94-90748BFA3FF0}"/>
              </a:ext>
            </a:extLst>
          </p:cNvPr>
          <p:cNvSpPr txBox="1"/>
          <p:nvPr/>
        </p:nvSpPr>
        <p:spPr>
          <a:xfrm>
            <a:off x="7985759" y="3172968"/>
            <a:ext cx="197815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8A"/>
                </a:solidFill>
              </a:rPr>
              <a:t>X552_range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FD41EB-660B-E7C8-8BD2-94F5F40E1EEC}"/>
              </a:ext>
            </a:extLst>
          </p:cNvPr>
          <p:cNvSpPr txBox="1"/>
          <p:nvPr/>
        </p:nvSpPr>
        <p:spPr>
          <a:xfrm>
            <a:off x="7985759" y="3328416"/>
            <a:ext cx="197815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F4444"/>
                </a:solidFill>
              </a:rPr>
              <a:t>r(y_pred)=+0.2219  range 집계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20A0668-094C-B5C9-AEFF-DD8B60533DB2}"/>
              </a:ext>
            </a:extLst>
          </p:cNvPr>
          <p:cNvSpPr/>
          <p:nvPr/>
        </p:nvSpPr>
        <p:spPr>
          <a:xfrm>
            <a:off x="8212836" y="3483864"/>
            <a:ext cx="676507" cy="8961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AE89AD9-A100-9170-6672-8F6357ED6083}"/>
              </a:ext>
            </a:extLst>
          </p:cNvPr>
          <p:cNvSpPr txBox="1"/>
          <p:nvPr/>
        </p:nvSpPr>
        <p:spPr>
          <a:xfrm>
            <a:off x="8022336" y="3555552"/>
            <a:ext cx="190499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EF4444"/>
                </a:solidFill>
              </a:rPr>
              <a:t>고위험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87136AB-2447-B250-9AE3-008394DBDE26}"/>
              </a:ext>
            </a:extLst>
          </p:cNvPr>
          <p:cNvSpPr/>
          <p:nvPr/>
        </p:nvSpPr>
        <p:spPr>
          <a:xfrm>
            <a:off x="8502767" y="3720327"/>
            <a:ext cx="60402" cy="109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C90F385-39EE-4F0F-A2BC-AB30336BE4A8}"/>
              </a:ext>
            </a:extLst>
          </p:cNvPr>
          <p:cNvSpPr/>
          <p:nvPr/>
        </p:nvSpPr>
        <p:spPr>
          <a:xfrm>
            <a:off x="8563170" y="3666222"/>
            <a:ext cx="144965" cy="119182"/>
          </a:xfrm>
          <a:prstGeom prst="rect">
            <a:avLst/>
          </a:prstGeom>
          <a:solidFill>
            <a:srgbClr val="FBD0D0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00A8329-2D90-2FD1-71F0-F963DD37AD9F}"/>
              </a:ext>
            </a:extLst>
          </p:cNvPr>
          <p:cNvSpPr/>
          <p:nvPr/>
        </p:nvSpPr>
        <p:spPr>
          <a:xfrm>
            <a:off x="8626509" y="3666222"/>
            <a:ext cx="18288" cy="1191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25212D4-192D-D5EE-66FB-A3679F1A96D3}"/>
              </a:ext>
            </a:extLst>
          </p:cNvPr>
          <p:cNvSpPr/>
          <p:nvPr/>
        </p:nvSpPr>
        <p:spPr>
          <a:xfrm>
            <a:off x="8708136" y="3720327"/>
            <a:ext cx="61610" cy="109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3B2465-E8B9-02B2-0CBE-FCCE0F6CB857}"/>
              </a:ext>
            </a:extLst>
          </p:cNvPr>
          <p:cNvSpPr txBox="1"/>
          <p:nvPr/>
        </p:nvSpPr>
        <p:spPr>
          <a:xfrm>
            <a:off x="8653941" y="3555552"/>
            <a:ext cx="502920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75569"/>
                </a:solidFill>
              </a:rPr>
              <a:t>Med:21.5000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DA211A-0089-F202-FABA-2757AC582924}"/>
              </a:ext>
            </a:extLst>
          </p:cNvPr>
          <p:cNvSpPr txBox="1"/>
          <p:nvPr/>
        </p:nvSpPr>
        <p:spPr>
          <a:xfrm>
            <a:off x="8022336" y="3967764"/>
            <a:ext cx="190499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22C55E"/>
                </a:solidFill>
              </a:rPr>
              <a:t>저위험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D500052-2443-B56F-1CA6-142243C5C483}"/>
              </a:ext>
            </a:extLst>
          </p:cNvPr>
          <p:cNvSpPr/>
          <p:nvPr/>
        </p:nvSpPr>
        <p:spPr>
          <a:xfrm>
            <a:off x="8394043" y="4132539"/>
            <a:ext cx="72482" cy="109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7D6DCC2-85DB-ED5D-22CA-3D8772B50C03}"/>
              </a:ext>
            </a:extLst>
          </p:cNvPr>
          <p:cNvSpPr/>
          <p:nvPr/>
        </p:nvSpPr>
        <p:spPr>
          <a:xfrm>
            <a:off x="8466526" y="4078434"/>
            <a:ext cx="169126" cy="119182"/>
          </a:xfrm>
          <a:prstGeom prst="rect">
            <a:avLst/>
          </a:prstGeom>
          <a:solidFill>
            <a:srgbClr val="C7F0D6"/>
          </a:solidFill>
          <a:ln w="76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8513157-1F1E-59F6-EC5D-F0E4AF27D9A9}"/>
              </a:ext>
            </a:extLst>
          </p:cNvPr>
          <p:cNvSpPr/>
          <p:nvPr/>
        </p:nvSpPr>
        <p:spPr>
          <a:xfrm>
            <a:off x="8529865" y="4078434"/>
            <a:ext cx="18288" cy="1191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D339459-E5DD-B120-9BB1-7F6713525BA8}"/>
              </a:ext>
            </a:extLst>
          </p:cNvPr>
          <p:cNvSpPr/>
          <p:nvPr/>
        </p:nvSpPr>
        <p:spPr>
          <a:xfrm>
            <a:off x="8635653" y="4132539"/>
            <a:ext cx="56778" cy="109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1441A9-1F5C-8EA6-0E52-0570C9E57F32}"/>
              </a:ext>
            </a:extLst>
          </p:cNvPr>
          <p:cNvSpPr txBox="1"/>
          <p:nvPr/>
        </p:nvSpPr>
        <p:spPr>
          <a:xfrm>
            <a:off x="8557297" y="3967764"/>
            <a:ext cx="502920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75569"/>
                </a:solidFill>
              </a:rPr>
              <a:t>Med:21.1000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C457A6E-99FC-EC25-E7AA-AAC6BBDB4C34}"/>
              </a:ext>
            </a:extLst>
          </p:cNvPr>
          <p:cNvSpPr txBox="1"/>
          <p:nvPr/>
        </p:nvSpPr>
        <p:spPr>
          <a:xfrm>
            <a:off x="8022336" y="4233672"/>
            <a:ext cx="19049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75569"/>
                </a:solidFill>
              </a:rPr>
              <a:t>정상 범위: 19.75 ~ 22.55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6DFFF9D-9D29-5986-D462-E9FD89F83372}"/>
              </a:ext>
            </a:extLst>
          </p:cNvPr>
          <p:cNvSpPr/>
          <p:nvPr/>
        </p:nvSpPr>
        <p:spPr>
          <a:xfrm>
            <a:off x="9991344" y="3172968"/>
            <a:ext cx="9144" cy="1207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45010E1-6DBB-92D3-3D3E-D3E050458754}"/>
              </a:ext>
            </a:extLst>
          </p:cNvPr>
          <p:cNvSpPr txBox="1"/>
          <p:nvPr/>
        </p:nvSpPr>
        <p:spPr>
          <a:xfrm>
            <a:off x="10037064" y="3172968"/>
            <a:ext cx="197815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8A"/>
                </a:solidFill>
              </a:rPr>
              <a:t>X1031_range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8FF540D-878A-DDF2-8E38-641E7E10831F}"/>
              </a:ext>
            </a:extLst>
          </p:cNvPr>
          <p:cNvSpPr txBox="1"/>
          <p:nvPr/>
        </p:nvSpPr>
        <p:spPr>
          <a:xfrm>
            <a:off x="10037064" y="3328416"/>
            <a:ext cx="197815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r(y_pred)=+0.0007  range 집계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83E2445-3375-BF5D-B2CE-044791C6A39D}"/>
              </a:ext>
            </a:extLst>
          </p:cNvPr>
          <p:cNvSpPr/>
          <p:nvPr/>
        </p:nvSpPr>
        <p:spPr>
          <a:xfrm>
            <a:off x="10264140" y="3483864"/>
            <a:ext cx="1485899" cy="8961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AC2B3B1-EE41-0978-81CA-AA1A7630B6AA}"/>
              </a:ext>
            </a:extLst>
          </p:cNvPr>
          <p:cNvSpPr txBox="1"/>
          <p:nvPr/>
        </p:nvSpPr>
        <p:spPr>
          <a:xfrm>
            <a:off x="10073640" y="3555552"/>
            <a:ext cx="190499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EF4444"/>
                </a:solidFill>
              </a:rPr>
              <a:t>고위험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3C7E09B-4DEB-0F25-DE46-0A77E37E1033}"/>
              </a:ext>
            </a:extLst>
          </p:cNvPr>
          <p:cNvSpPr/>
          <p:nvPr/>
        </p:nvSpPr>
        <p:spPr>
          <a:xfrm>
            <a:off x="10726455" y="3720327"/>
            <a:ext cx="161163" cy="109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4D9DA94-7A81-9E16-F07A-B9A49B9A213A}"/>
              </a:ext>
            </a:extLst>
          </p:cNvPr>
          <p:cNvSpPr/>
          <p:nvPr/>
        </p:nvSpPr>
        <p:spPr>
          <a:xfrm>
            <a:off x="10887618" y="3666222"/>
            <a:ext cx="298937" cy="119182"/>
          </a:xfrm>
          <a:prstGeom prst="rect">
            <a:avLst/>
          </a:prstGeom>
          <a:solidFill>
            <a:srgbClr val="FBD0D0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3441766-C791-C8A8-9B7C-18D8E593BB44}"/>
              </a:ext>
            </a:extLst>
          </p:cNvPr>
          <p:cNvSpPr/>
          <p:nvPr/>
        </p:nvSpPr>
        <p:spPr>
          <a:xfrm>
            <a:off x="11025314" y="3666222"/>
            <a:ext cx="18288" cy="1191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D0225E9-0C84-3A99-FE8C-CCED9C7396B6}"/>
              </a:ext>
            </a:extLst>
          </p:cNvPr>
          <p:cNvSpPr/>
          <p:nvPr/>
        </p:nvSpPr>
        <p:spPr>
          <a:xfrm>
            <a:off x="11186556" y="3720327"/>
            <a:ext cx="103313" cy="109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912758-AB44-C58E-BED8-4BD18DBEE77B}"/>
              </a:ext>
            </a:extLst>
          </p:cNvPr>
          <p:cNvSpPr txBox="1"/>
          <p:nvPr/>
        </p:nvSpPr>
        <p:spPr>
          <a:xfrm>
            <a:off x="11052746" y="3555552"/>
            <a:ext cx="502920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75569"/>
                </a:solidFill>
              </a:rPr>
              <a:t>Med:1.3544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C87C427-4A09-94EB-2EDB-184D7D633B32}"/>
              </a:ext>
            </a:extLst>
          </p:cNvPr>
          <p:cNvSpPr txBox="1"/>
          <p:nvPr/>
        </p:nvSpPr>
        <p:spPr>
          <a:xfrm>
            <a:off x="10073640" y="3967764"/>
            <a:ext cx="190499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22C55E"/>
                </a:solidFill>
              </a:rPr>
              <a:t>저위험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4682074-7F9A-FC34-D59E-A199B60C8CBE}"/>
              </a:ext>
            </a:extLst>
          </p:cNvPr>
          <p:cNvSpPr/>
          <p:nvPr/>
        </p:nvSpPr>
        <p:spPr>
          <a:xfrm>
            <a:off x="10644524" y="4132539"/>
            <a:ext cx="176802" cy="109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DC9AE8-F8FD-B4BA-354D-F3E94095A2DF}"/>
              </a:ext>
            </a:extLst>
          </p:cNvPr>
          <p:cNvSpPr/>
          <p:nvPr/>
        </p:nvSpPr>
        <p:spPr>
          <a:xfrm>
            <a:off x="10821326" y="4078434"/>
            <a:ext cx="371457" cy="119182"/>
          </a:xfrm>
          <a:prstGeom prst="rect">
            <a:avLst/>
          </a:prstGeom>
          <a:solidFill>
            <a:srgbClr val="C7F0D6"/>
          </a:solidFill>
          <a:ln w="76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7F7E189-56F9-345C-0F43-750BED160374}"/>
              </a:ext>
            </a:extLst>
          </p:cNvPr>
          <p:cNvSpPr/>
          <p:nvPr/>
        </p:nvSpPr>
        <p:spPr>
          <a:xfrm>
            <a:off x="11017632" y="4078434"/>
            <a:ext cx="18288" cy="1191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5CEE433-75A4-AA06-0F77-B69F1EBA92A6}"/>
              </a:ext>
            </a:extLst>
          </p:cNvPr>
          <p:cNvSpPr/>
          <p:nvPr/>
        </p:nvSpPr>
        <p:spPr>
          <a:xfrm>
            <a:off x="11192784" y="4132539"/>
            <a:ext cx="124211" cy="109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97F81AD-0770-D865-1D3D-EAFEA7170355}"/>
              </a:ext>
            </a:extLst>
          </p:cNvPr>
          <p:cNvSpPr txBox="1"/>
          <p:nvPr/>
        </p:nvSpPr>
        <p:spPr>
          <a:xfrm>
            <a:off x="11045064" y="3967764"/>
            <a:ext cx="502920" cy="34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75569"/>
                </a:solidFill>
              </a:rPr>
              <a:t>Med:1.3533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F565B87-864B-A7F1-E01A-5CB07CB650B8}"/>
              </a:ext>
            </a:extLst>
          </p:cNvPr>
          <p:cNvSpPr txBox="1"/>
          <p:nvPr/>
        </p:nvSpPr>
        <p:spPr>
          <a:xfrm>
            <a:off x="10073640" y="4233672"/>
            <a:ext cx="190499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75569"/>
                </a:solidFill>
              </a:rPr>
              <a:t>정상 범위: 1.24309 ~ 1.45782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E418450-B47A-16A1-1DBD-9ABC1A172216}"/>
              </a:ext>
            </a:extLst>
          </p:cNvPr>
          <p:cNvSpPr/>
          <p:nvPr/>
        </p:nvSpPr>
        <p:spPr>
          <a:xfrm>
            <a:off x="5897880" y="4434840"/>
            <a:ext cx="6153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31FB784-ED39-DBB5-E4DF-0FE49A9BC395}"/>
              </a:ext>
            </a:extLst>
          </p:cNvPr>
          <p:cNvSpPr txBox="1"/>
          <p:nvPr/>
        </p:nvSpPr>
        <p:spPr>
          <a:xfrm>
            <a:off x="5897880" y="4498848"/>
            <a:ext cx="29538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4. 개선 방안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FBD325-73FC-05CF-AE7F-3216FFC4BE99}"/>
              </a:ext>
            </a:extLst>
          </p:cNvPr>
          <p:cNvSpPr txBox="1"/>
          <p:nvPr/>
        </p:nvSpPr>
        <p:spPr>
          <a:xfrm>
            <a:off x="8851757" y="4498848"/>
            <a:ext cx="32000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X178_mean(mean)</a:t>
            </a:r>
          </a:p>
        </p:txBody>
      </p:sp>
      <p:graphicFrame>
        <p:nvGraphicFramePr>
          <p:cNvPr id="108" name="Table 107">
            <a:extLst>
              <a:ext uri="{FF2B5EF4-FFF2-40B4-BE49-F238E27FC236}">
                <a16:creationId xmlns:a16="http://schemas.microsoft.com/office/drawing/2014/main" id="{6A8A4FEC-7EE3-DFDF-26D4-53BFE9B2E674}"/>
              </a:ext>
            </a:extLst>
          </p:cNvPr>
          <p:cNvGraphicFramePr>
            <a:graphicFrameLocks noGrp="1"/>
          </p:cNvGraphicFramePr>
          <p:nvPr/>
        </p:nvGraphicFramePr>
        <p:xfrm>
          <a:off x="5897880" y="4654296"/>
          <a:ext cx="344618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588">
                <a:tc>
                  <a:txBody>
                    <a:bodyPr/>
                    <a:lstStyle/>
                    <a:p>
                      <a:r>
                        <a:rPr dirty="0" err="1"/>
                        <a:t>고위험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중앙값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r>
                        <a:t>목표 (저위험 중앙값)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r>
                        <a:t>정상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4.98044 ~ 5.01794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r>
                        <a:t>조정량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-0.0015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ectangle 108">
            <a:extLst>
              <a:ext uri="{FF2B5EF4-FFF2-40B4-BE49-F238E27FC236}">
                <a16:creationId xmlns:a16="http://schemas.microsoft.com/office/drawing/2014/main" id="{F06EEE6E-33FC-27A9-D0AB-ACBD5BCC7062}"/>
              </a:ext>
            </a:extLst>
          </p:cNvPr>
          <p:cNvSpPr/>
          <p:nvPr/>
        </p:nvSpPr>
        <p:spPr>
          <a:xfrm>
            <a:off x="9467148" y="4654296"/>
            <a:ext cx="2584643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FA0C4F3-64C9-4AD6-C60B-40A4FFF346FF}"/>
              </a:ext>
            </a:extLst>
          </p:cNvPr>
          <p:cNvSpPr txBox="1"/>
          <p:nvPr/>
        </p:nvSpPr>
        <p:spPr>
          <a:xfrm>
            <a:off x="9512868" y="4672584"/>
            <a:ext cx="24615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예상 y_pred 변화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ACE3AD9-FED7-FC35-F395-B4D1F027AFBE}"/>
              </a:ext>
            </a:extLst>
          </p:cNvPr>
          <p:cNvSpPr txBox="1"/>
          <p:nvPr/>
        </p:nvSpPr>
        <p:spPr>
          <a:xfrm>
            <a:off x="9512868" y="4782312"/>
            <a:ext cx="8000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94A3B8"/>
                </a:solidFill>
              </a:rPr>
              <a:t>현재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159D110-4167-F12A-B3A4-4555DC241186}"/>
              </a:ext>
            </a:extLst>
          </p:cNvPr>
          <p:cNvSpPr txBox="1"/>
          <p:nvPr/>
        </p:nvSpPr>
        <p:spPr>
          <a:xfrm>
            <a:off x="9512868" y="4882896"/>
            <a:ext cx="800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0.002698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FCDA325-B0A4-E1F1-6A23-A5B6856BBC3A}"/>
              </a:ext>
            </a:extLst>
          </p:cNvPr>
          <p:cNvSpPr txBox="1"/>
          <p:nvPr/>
        </p:nvSpPr>
        <p:spPr>
          <a:xfrm>
            <a:off x="10636392" y="4882896"/>
            <a:ext cx="36923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8BDF61B-03F8-3060-E2DD-2A75CF231404}"/>
              </a:ext>
            </a:extLst>
          </p:cNvPr>
          <p:cNvSpPr txBox="1"/>
          <p:nvPr/>
        </p:nvSpPr>
        <p:spPr>
          <a:xfrm>
            <a:off x="11005626" y="4782312"/>
            <a:ext cx="92308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94A3B8"/>
                </a:solidFill>
              </a:rPr>
              <a:t>조정 후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F938901-9FB6-663F-5855-833EEB65BB80}"/>
              </a:ext>
            </a:extLst>
          </p:cNvPr>
          <p:cNvSpPr txBox="1"/>
          <p:nvPr/>
        </p:nvSpPr>
        <p:spPr>
          <a:xfrm>
            <a:off x="11005626" y="4882896"/>
            <a:ext cx="9230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0.002698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5DED7BC-2FF6-D4EC-52F6-C171EC009B4C}"/>
              </a:ext>
            </a:extLst>
          </p:cNvPr>
          <p:cNvSpPr txBox="1"/>
          <p:nvPr/>
        </p:nvSpPr>
        <p:spPr>
          <a:xfrm>
            <a:off x="9512868" y="5111496"/>
            <a:ext cx="24615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delta +-0.0 변화없음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4200EBA-4349-2EA3-CDF3-22736C9A3A8D}"/>
              </a:ext>
            </a:extLst>
          </p:cNvPr>
          <p:cNvSpPr txBox="1"/>
          <p:nvPr/>
        </p:nvSpPr>
        <p:spPr>
          <a:xfrm>
            <a:off x="5897880" y="5230368"/>
            <a:ext cx="27692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y_pred 분포 변화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A4BCA4F-72ED-E817-2F05-8EDEAE9F81FF}"/>
              </a:ext>
            </a:extLst>
          </p:cNvPr>
          <p:cNvSpPr txBox="1"/>
          <p:nvPr/>
        </p:nvSpPr>
        <p:spPr>
          <a:xfrm>
            <a:off x="8667140" y="5230368"/>
            <a:ext cx="338465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4A3B8"/>
                </a:solidFill>
              </a:rPr>
              <a:t>빨강: 현재  초록: 조정 후</a:t>
            </a:r>
          </a:p>
        </p:txBody>
      </p:sp>
      <p:graphicFrame>
        <p:nvGraphicFramePr>
          <p:cNvPr id="119" name="Chart 118">
            <a:extLst>
              <a:ext uri="{FF2B5EF4-FFF2-40B4-BE49-F238E27FC236}">
                <a16:creationId xmlns:a16="http://schemas.microsoft.com/office/drawing/2014/main" id="{F7B669C8-C8D5-6A34-3102-2ABC46222440}"/>
              </a:ext>
            </a:extLst>
          </p:cNvPr>
          <p:cNvGraphicFramePr>
            <a:graphicFrameLocks noGrp="1"/>
          </p:cNvGraphicFramePr>
          <p:nvPr/>
        </p:nvGraphicFramePr>
        <p:xfrm>
          <a:off x="5897880" y="5367528"/>
          <a:ext cx="6153912" cy="1261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0" name="Rectangle 119">
            <a:extLst>
              <a:ext uri="{FF2B5EF4-FFF2-40B4-BE49-F238E27FC236}">
                <a16:creationId xmlns:a16="http://schemas.microsoft.com/office/drawing/2014/main" id="{E667C157-9908-8A1F-EF95-EC99DE264F2C}"/>
              </a:ext>
            </a:extLst>
          </p:cNvPr>
          <p:cNvSpPr/>
          <p:nvPr/>
        </p:nvSpPr>
        <p:spPr>
          <a:xfrm>
            <a:off x="137160" y="6633972"/>
            <a:ext cx="11914632" cy="201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85C1A19-B8B7-47B0-1F5C-61ACB608CF3C}"/>
              </a:ext>
            </a:extLst>
          </p:cNvPr>
          <p:cNvSpPr txBox="1"/>
          <p:nvPr/>
        </p:nvSpPr>
        <p:spPr>
          <a:xfrm>
            <a:off x="6349745" y="5789174"/>
            <a:ext cx="452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2026년 05월 11일  Two-Stage Model  불량 임계값 y_pred &gt;= 0.003412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72B1B51-D65A-26F6-C7B5-D4E8C5A4EF5B}"/>
              </a:ext>
            </a:extLst>
          </p:cNvPr>
          <p:cNvSpPr txBox="1"/>
          <p:nvPr/>
        </p:nvSpPr>
        <p:spPr>
          <a:xfrm>
            <a:off x="3473256" y="6656832"/>
            <a:ext cx="52424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Field Health Prediction Model v1.0  WT Quality Analysis     Page 1 of 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742955A-2F7B-81C0-62FD-FDB95B8FB003}"/>
              </a:ext>
            </a:extLst>
          </p:cNvPr>
          <p:cNvSpPr txBox="1"/>
          <p:nvPr/>
        </p:nvSpPr>
        <p:spPr>
          <a:xfrm>
            <a:off x="8715695" y="6656832"/>
            <a:ext cx="3336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1E3A8A"/>
                </a:solidFill>
              </a:rPr>
              <a:t>We Do Technology  |  SK hynix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3436E70-4423-96CF-152A-6343FD954DBB}"/>
              </a:ext>
            </a:extLst>
          </p:cNvPr>
          <p:cNvSpPr/>
          <p:nvPr/>
        </p:nvSpPr>
        <p:spPr>
          <a:xfrm>
            <a:off x="137160" y="0"/>
            <a:ext cx="11914632" cy="7208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WW37 </a:t>
            </a:r>
            <a:r>
              <a:rPr lang="ko-KR" altLang="en-US"/>
              <a:t>품질 예측 불량 보고서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C02296E-D647-2571-CB09-7B830B5332A0}"/>
              </a:ext>
            </a:extLst>
          </p:cNvPr>
          <p:cNvSpPr/>
          <p:nvPr/>
        </p:nvSpPr>
        <p:spPr>
          <a:xfrm>
            <a:off x="1381539" y="718895"/>
            <a:ext cx="9624088" cy="7208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제목 </a:t>
            </a:r>
            <a:r>
              <a:rPr lang="en-US" altLang="ko-KR" dirty="0"/>
              <a:t>: </a:t>
            </a:r>
            <a:r>
              <a:rPr lang="ko-KR" altLang="en-US" dirty="0"/>
              <a:t>전주대비 품질 불량 </a:t>
            </a:r>
            <a:r>
              <a:rPr lang="en-US" altLang="ko-KR" dirty="0"/>
              <a:t>+n ppm </a:t>
            </a:r>
            <a:r>
              <a:rPr lang="ko-KR" altLang="en-US" dirty="0"/>
              <a:t>열화 글씨 크게 </a:t>
            </a:r>
            <a:r>
              <a:rPr lang="en-US" altLang="ko-KR" dirty="0"/>
              <a:t>(24pt)</a:t>
            </a:r>
          </a:p>
          <a:p>
            <a:pPr algn="ctr"/>
            <a:r>
              <a:rPr lang="ko-KR" altLang="en-US" dirty="0"/>
              <a:t>부제 </a:t>
            </a:r>
            <a:r>
              <a:rPr lang="en-US" altLang="ko-KR" dirty="0"/>
              <a:t>: x1056, x567 </a:t>
            </a:r>
            <a:r>
              <a:rPr lang="ko-KR" altLang="en-US" dirty="0"/>
              <a:t>파라미터 </a:t>
            </a:r>
            <a:r>
              <a:rPr lang="ko-KR" altLang="en-US" dirty="0" err="1"/>
              <a:t>줄량에</a:t>
            </a:r>
            <a:r>
              <a:rPr lang="ko-KR" altLang="en-US" dirty="0"/>
              <a:t> 대해 </a:t>
            </a:r>
            <a:r>
              <a:rPr lang="en-US" altLang="ko-KR" dirty="0"/>
              <a:t>inline </a:t>
            </a:r>
            <a:r>
              <a:rPr lang="ko-KR" altLang="en-US" dirty="0" err="1"/>
              <a:t>참원인</a:t>
            </a:r>
            <a:r>
              <a:rPr lang="ko-KR" altLang="en-US" dirty="0"/>
              <a:t> 분석요청 </a:t>
            </a:r>
            <a:r>
              <a:rPr lang="en-US" altLang="ko-KR" dirty="0"/>
              <a:t>(20pt)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659E69A-405F-C318-CCEC-24CC8DB4CD5E}"/>
              </a:ext>
            </a:extLst>
          </p:cNvPr>
          <p:cNvSpPr/>
          <p:nvPr/>
        </p:nvSpPr>
        <p:spPr>
          <a:xfrm>
            <a:off x="1458667" y="1454261"/>
            <a:ext cx="2793293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Modeling</a:t>
            </a:r>
            <a:r>
              <a:rPr lang="ko-KR" altLang="en-US" dirty="0"/>
              <a:t> 현황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06EE6E6-B858-087E-80E9-2F164E5CA300}"/>
              </a:ext>
            </a:extLst>
          </p:cNvPr>
          <p:cNvSpPr/>
          <p:nvPr/>
        </p:nvSpPr>
        <p:spPr>
          <a:xfrm>
            <a:off x="8039565" y="1478976"/>
            <a:ext cx="2793293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불량 </a:t>
            </a:r>
            <a:r>
              <a:rPr lang="en-US" altLang="ko-KR" dirty="0"/>
              <a:t>Unit </a:t>
            </a:r>
            <a:r>
              <a:rPr lang="ko-KR" altLang="en-US" dirty="0"/>
              <a:t>분석 현황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99DC91F-D708-DB76-A2F2-54B9A652C277}"/>
              </a:ext>
            </a:extLst>
          </p:cNvPr>
          <p:cNvSpPr/>
          <p:nvPr/>
        </p:nvSpPr>
        <p:spPr>
          <a:xfrm>
            <a:off x="0" y="1881682"/>
            <a:ext cx="5989320" cy="49562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WW37 </a:t>
            </a:r>
            <a:r>
              <a:rPr lang="ko-KR" altLang="en-US"/>
              <a:t>품질 예측 불량 보고서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AD30D85-F696-0A55-F9BC-72C90F7F7408}"/>
              </a:ext>
            </a:extLst>
          </p:cNvPr>
          <p:cNvSpPr/>
          <p:nvPr/>
        </p:nvSpPr>
        <p:spPr>
          <a:xfrm>
            <a:off x="6190487" y="1929230"/>
            <a:ext cx="5989320" cy="49562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WW37 </a:t>
            </a:r>
            <a:r>
              <a:rPr lang="ko-KR" altLang="en-US"/>
              <a:t>품질 예측 불량 보고서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B49EC7E6-B5C3-B33F-B2CF-1304B6A668FB}"/>
              </a:ext>
            </a:extLst>
          </p:cNvPr>
          <p:cNvSpPr/>
          <p:nvPr/>
        </p:nvSpPr>
        <p:spPr>
          <a:xfrm>
            <a:off x="100584" y="2013204"/>
            <a:ext cx="5702046" cy="7208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dirty="0"/>
              <a:t>분석시점 </a:t>
            </a:r>
            <a:r>
              <a:rPr lang="en-US" altLang="ko-KR" dirty="0"/>
              <a:t>: </a:t>
            </a:r>
            <a:r>
              <a:rPr lang="ko-KR" altLang="en-US" dirty="0"/>
              <a:t>오늘 날짜</a:t>
            </a:r>
            <a:endParaRPr lang="en-US" altLang="ko-KR" dirty="0"/>
          </a:p>
          <a:p>
            <a:r>
              <a:rPr lang="en-US" altLang="ko-KR" dirty="0"/>
              <a:t>-  </a:t>
            </a:r>
            <a:r>
              <a:rPr lang="ko-KR" altLang="en-US" dirty="0"/>
              <a:t>예측 시점 </a:t>
            </a:r>
            <a:r>
              <a:rPr lang="en-US" altLang="ko-KR" dirty="0"/>
              <a:t>: </a:t>
            </a:r>
            <a:r>
              <a:rPr lang="ko-KR" altLang="en-US" dirty="0"/>
              <a:t>오늘 날짜 </a:t>
            </a:r>
            <a:r>
              <a:rPr lang="en-US" altLang="ko-KR" dirty="0"/>
              <a:t>+2</a:t>
            </a:r>
            <a:r>
              <a:rPr lang="ko-KR" altLang="en-US" dirty="0"/>
              <a:t>달</a:t>
            </a:r>
            <a:endParaRPr lang="en-US" altLang="ko-KR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91F6206-3E59-C796-6BEE-BFF9B8E8E3A2}"/>
              </a:ext>
            </a:extLst>
          </p:cNvPr>
          <p:cNvSpPr txBox="1"/>
          <p:nvPr/>
        </p:nvSpPr>
        <p:spPr>
          <a:xfrm>
            <a:off x="3617843" y="2295939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 박스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32" name="Rectangle 25">
            <a:extLst>
              <a:ext uri="{FF2B5EF4-FFF2-40B4-BE49-F238E27FC236}">
                <a16:creationId xmlns:a16="http://schemas.microsoft.com/office/drawing/2014/main" id="{099692A4-C21E-BC12-7330-F1D509CD38A7}"/>
              </a:ext>
            </a:extLst>
          </p:cNvPr>
          <p:cNvSpPr/>
          <p:nvPr/>
        </p:nvSpPr>
        <p:spPr>
          <a:xfrm>
            <a:off x="6502145" y="2018798"/>
            <a:ext cx="5669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0C5806A3-9A61-C331-5C38-4E7534E5844F}"/>
              </a:ext>
            </a:extLst>
          </p:cNvPr>
          <p:cNvSpPr/>
          <p:nvPr/>
        </p:nvSpPr>
        <p:spPr>
          <a:xfrm>
            <a:off x="6345935" y="2034302"/>
            <a:ext cx="5669280" cy="376401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/>
              <a:t>ㅍ</a:t>
            </a:r>
            <a:endParaRPr lang="en-US" altLang="ko-KR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74069A9-9465-CC94-6324-DF0E96D444A1}"/>
              </a:ext>
            </a:extLst>
          </p:cNvPr>
          <p:cNvSpPr txBox="1"/>
          <p:nvPr/>
        </p:nvSpPr>
        <p:spPr>
          <a:xfrm>
            <a:off x="6478969" y="216775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 박스</a:t>
            </a: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AF74C93A-A113-CB1F-EAF2-AD74D6889BB0}"/>
              </a:ext>
            </a:extLst>
          </p:cNvPr>
          <p:cNvSpPr/>
          <p:nvPr/>
        </p:nvSpPr>
        <p:spPr>
          <a:xfrm>
            <a:off x="6502145" y="3275853"/>
            <a:ext cx="1712976" cy="212927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E9E8924C-3C7A-42EE-28B9-555EA72BDE65}"/>
              </a:ext>
            </a:extLst>
          </p:cNvPr>
          <p:cNvSpPr/>
          <p:nvPr/>
        </p:nvSpPr>
        <p:spPr>
          <a:xfrm>
            <a:off x="6654545" y="3351413"/>
            <a:ext cx="1357068" cy="4315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Position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6FC33635-64AE-830B-20AD-3C643C8F287F}"/>
              </a:ext>
            </a:extLst>
          </p:cNvPr>
          <p:cNvSpPr/>
          <p:nvPr/>
        </p:nvSpPr>
        <p:spPr>
          <a:xfrm>
            <a:off x="6654545" y="3844683"/>
            <a:ext cx="1357068" cy="4315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Position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AE7F8DF0-6EF1-6FFA-8194-4520AF9840EA}"/>
              </a:ext>
            </a:extLst>
          </p:cNvPr>
          <p:cNvSpPr/>
          <p:nvPr/>
        </p:nvSpPr>
        <p:spPr>
          <a:xfrm>
            <a:off x="6654545" y="4362710"/>
            <a:ext cx="1357068" cy="4315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Position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7A92009-7F51-C51B-E110-725C4C1785E8}"/>
              </a:ext>
            </a:extLst>
          </p:cNvPr>
          <p:cNvSpPr/>
          <p:nvPr/>
        </p:nvSpPr>
        <p:spPr>
          <a:xfrm>
            <a:off x="6654545" y="4897241"/>
            <a:ext cx="1357068" cy="4315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Position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1" name="순서도: 연결자 140">
            <a:extLst>
              <a:ext uri="{FF2B5EF4-FFF2-40B4-BE49-F238E27FC236}">
                <a16:creationId xmlns:a16="http://schemas.microsoft.com/office/drawing/2014/main" id="{0E535568-1B1F-1D0C-4B0A-489243F1AD73}"/>
              </a:ext>
            </a:extLst>
          </p:cNvPr>
          <p:cNvSpPr/>
          <p:nvPr/>
        </p:nvSpPr>
        <p:spPr>
          <a:xfrm>
            <a:off x="8277441" y="3434594"/>
            <a:ext cx="1870544" cy="185623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웨이퍼맵</a:t>
            </a:r>
            <a:endParaRPr lang="ko-KR" altLang="en-US" dirty="0"/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011C6063-FD0A-547E-9376-A7D19DCF36E0}"/>
              </a:ext>
            </a:extLst>
          </p:cNvPr>
          <p:cNvSpPr/>
          <p:nvPr/>
        </p:nvSpPr>
        <p:spPr>
          <a:xfrm>
            <a:off x="10213848" y="3347768"/>
            <a:ext cx="1712976" cy="212927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피처임포턴스</a:t>
            </a:r>
            <a:endParaRPr lang="en-US" altLang="ko-KR" dirty="0"/>
          </a:p>
          <a:p>
            <a:pPr algn="ctr"/>
            <a:r>
              <a:rPr lang="en-US" altLang="ko-KR" dirty="0"/>
              <a:t>:</a:t>
            </a:r>
            <a:r>
              <a:rPr lang="ko-KR" altLang="en-US" dirty="0"/>
              <a:t>정상</a:t>
            </a:r>
            <a:r>
              <a:rPr lang="en-US" altLang="ko-KR" dirty="0"/>
              <a:t>vs</a:t>
            </a:r>
            <a:r>
              <a:rPr lang="ko-KR" altLang="en-US" dirty="0"/>
              <a:t>불량 사이 그룹 분포차이</a:t>
            </a:r>
          </a:p>
        </p:txBody>
      </p:sp>
      <p:sp>
        <p:nvSpPr>
          <p:cNvPr id="194" name="Rectangle 25">
            <a:extLst>
              <a:ext uri="{FF2B5EF4-FFF2-40B4-BE49-F238E27FC236}">
                <a16:creationId xmlns:a16="http://schemas.microsoft.com/office/drawing/2014/main" id="{8058CB90-49A9-4488-CC56-864CC38EAD88}"/>
              </a:ext>
            </a:extLst>
          </p:cNvPr>
          <p:cNvSpPr/>
          <p:nvPr/>
        </p:nvSpPr>
        <p:spPr>
          <a:xfrm>
            <a:off x="6405312" y="6661178"/>
            <a:ext cx="5669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A966257D-A415-9C57-A2E6-57AA3CEF45F6}"/>
              </a:ext>
            </a:extLst>
          </p:cNvPr>
          <p:cNvSpPr/>
          <p:nvPr/>
        </p:nvSpPr>
        <p:spPr>
          <a:xfrm>
            <a:off x="6368736" y="5940326"/>
            <a:ext cx="5669280" cy="7208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X1056, X567 para </a:t>
            </a:r>
            <a:r>
              <a:rPr lang="ko-KR" altLang="en-US" dirty="0"/>
              <a:t>불량 분석 요청</a:t>
            </a:r>
            <a:endParaRPr lang="en-US" altLang="ko-KR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542DE8B8-279D-FCE2-DB95-68923741FBD2}"/>
              </a:ext>
            </a:extLst>
          </p:cNvPr>
          <p:cNvSpPr txBox="1"/>
          <p:nvPr/>
        </p:nvSpPr>
        <p:spPr>
          <a:xfrm>
            <a:off x="9885995" y="6223061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 박스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A792B364-66D7-8BBD-999A-D91C29FB1B9B}"/>
              </a:ext>
            </a:extLst>
          </p:cNvPr>
          <p:cNvSpPr/>
          <p:nvPr/>
        </p:nvSpPr>
        <p:spPr>
          <a:xfrm>
            <a:off x="133350" y="2852669"/>
            <a:ext cx="5669280" cy="55621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모델링 결과</a:t>
            </a:r>
            <a:endParaRPr lang="en-US" altLang="ko-KR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34187E44-C1D2-DE35-CD41-F10324F12F7C}"/>
              </a:ext>
            </a:extLst>
          </p:cNvPr>
          <p:cNvSpPr/>
          <p:nvPr/>
        </p:nvSpPr>
        <p:spPr>
          <a:xfrm>
            <a:off x="134821" y="3503175"/>
            <a:ext cx="2727102" cy="20391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/>
              <a:t>Shap</a:t>
            </a:r>
            <a:r>
              <a:rPr lang="en-US" altLang="ko-KR" dirty="0"/>
              <a:t> value </a:t>
            </a:r>
            <a:r>
              <a:rPr lang="ko-KR" altLang="en-US" dirty="0"/>
              <a:t>분석 결과 </a:t>
            </a:r>
            <a:r>
              <a:rPr lang="en-US" altLang="ko-KR" dirty="0"/>
              <a:t>(</a:t>
            </a:r>
            <a:r>
              <a:rPr lang="en-US" altLang="ko-KR" dirty="0" err="1"/>
              <a:t>shap</a:t>
            </a:r>
            <a:r>
              <a:rPr lang="ko-KR" altLang="en-US" dirty="0"/>
              <a:t>분석 그래프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2C5E9981-A823-6336-188F-008F26C6FAF7}"/>
              </a:ext>
            </a:extLst>
          </p:cNvPr>
          <p:cNvSpPr/>
          <p:nvPr/>
        </p:nvSpPr>
        <p:spPr>
          <a:xfrm>
            <a:off x="108928" y="6136482"/>
            <a:ext cx="5729453" cy="5140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 err="1"/>
              <a:t>rmse</a:t>
            </a:r>
            <a:endParaRPr lang="en-US" altLang="ko-KR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60C799E-70CD-41E3-9686-2A7BE9D5F5BB}"/>
              </a:ext>
            </a:extLst>
          </p:cNvPr>
          <p:cNvSpPr txBox="1"/>
          <p:nvPr/>
        </p:nvSpPr>
        <p:spPr>
          <a:xfrm>
            <a:off x="4304984" y="6248245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 박스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5428143-7A07-FCCB-AABC-99E7CAC4D7F3}"/>
              </a:ext>
            </a:extLst>
          </p:cNvPr>
          <p:cNvSpPr txBox="1"/>
          <p:nvPr/>
        </p:nvSpPr>
        <p:spPr>
          <a:xfrm>
            <a:off x="4387290" y="2947262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 박스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2E78A18F-5802-D7F8-804E-F143DA12A5E1}"/>
              </a:ext>
            </a:extLst>
          </p:cNvPr>
          <p:cNvSpPr/>
          <p:nvPr/>
        </p:nvSpPr>
        <p:spPr>
          <a:xfrm>
            <a:off x="3084646" y="3506071"/>
            <a:ext cx="2727102" cy="204872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(</a:t>
            </a:r>
            <a:r>
              <a:rPr lang="en-US" altLang="ko-KR" dirty="0" err="1"/>
              <a:t>trand</a:t>
            </a:r>
            <a:r>
              <a:rPr lang="en-US" altLang="ko-KR" dirty="0"/>
              <a:t> </a:t>
            </a:r>
            <a:r>
              <a:rPr lang="ko-KR" altLang="en-US" dirty="0"/>
              <a:t>그래프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CC4890C4-E3ED-7C67-665F-ECB9901C8761}"/>
              </a:ext>
            </a:extLst>
          </p:cNvPr>
          <p:cNvSpPr/>
          <p:nvPr/>
        </p:nvSpPr>
        <p:spPr>
          <a:xfrm>
            <a:off x="115594" y="5613942"/>
            <a:ext cx="5729453" cy="43027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/>
              <a:t>샵분석</a:t>
            </a:r>
            <a:r>
              <a:rPr lang="ko-KR" altLang="en-US" dirty="0"/>
              <a:t> 관련 결과</a:t>
            </a:r>
            <a:endParaRPr lang="en-US" altLang="ko-KR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2911ED4-1A20-FEBB-5507-B1C66FBED91B}"/>
              </a:ext>
            </a:extLst>
          </p:cNvPr>
          <p:cNvSpPr txBox="1"/>
          <p:nvPr/>
        </p:nvSpPr>
        <p:spPr>
          <a:xfrm>
            <a:off x="4259264" y="5721052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 박스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273947E3-AA70-9261-0DFC-A794D296DA22}"/>
              </a:ext>
            </a:extLst>
          </p:cNvPr>
          <p:cNvSpPr txBox="1"/>
          <p:nvPr/>
        </p:nvSpPr>
        <p:spPr>
          <a:xfrm>
            <a:off x="1480458" y="3556907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 박스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F4870D3-2121-1C30-AC3E-002816BADB33}"/>
              </a:ext>
            </a:extLst>
          </p:cNvPr>
          <p:cNvSpPr txBox="1"/>
          <p:nvPr/>
        </p:nvSpPr>
        <p:spPr>
          <a:xfrm>
            <a:off x="4387290" y="3640122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 박스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46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500</Words>
  <Application>Microsoft Office PowerPoint</Application>
  <PresentationFormat>사용자 지정</PresentationFormat>
  <Paragraphs>132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유성은</cp:lastModifiedBy>
  <cp:revision>3</cp:revision>
  <dcterms:created xsi:type="dcterms:W3CDTF">2013-01-27T09:14:16Z</dcterms:created>
  <dcterms:modified xsi:type="dcterms:W3CDTF">2026-05-12T02:44:32Z</dcterms:modified>
  <cp:category/>
</cp:coreProperties>
</file>