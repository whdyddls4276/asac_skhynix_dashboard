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Field Health 불량 예측 분석 보고서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84280" y="91440"/>
            <a:ext cx="59436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93424" y="100584"/>
            <a:ext cx="576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대외비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4389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4632"/>
            <a:ext cx="1188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예측 불량 비율 임계값 y_pred ≥ 0.003412  (train 실제 불량률 29.2% 기준 역산)  ·  Val RMSE 0.005736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85800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A4A6F"/>
                </a:solidFill>
              </a:rPr>
              <a:t>Two-Stage Model  ·  Val RMSE 0.005736  ·  Test RMSE 0.008427  ·  상위 5개 피처 SHAP 분석 및 공정 개선 방안 수립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896112"/>
            <a:ext cx="5715000" cy="310896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932688"/>
            <a:ext cx="5715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[ Modeling 현황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6752" y="896112"/>
            <a:ext cx="6035040" cy="310896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6752" y="93268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[ 불량 Unit 분석 현황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1207008"/>
            <a:ext cx="5715000" cy="5358384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16752" y="1207008"/>
            <a:ext cx="6035040" cy="5358384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" y="1316736"/>
            <a:ext cx="54955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1389888"/>
            <a:ext cx="53126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분석시점 : 2026년 05월 12일     |     예측시점 : 2026년 07월 11일     |     총 Unit: 8749개   HIGH 위험: 312건 (3.6%)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" y="1755648"/>
            <a:ext cx="54955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1828800"/>
            <a:ext cx="53126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모델링 결과 :  Two-Stage Model   |   Val RMSE: 0.005736   |   Test RMSE: 0.008427   |   집중 LOT: 53</a:t>
            </a:r>
          </a:p>
        </p:txBody>
      </p:sp>
      <p:pic>
        <p:nvPicPr>
          <p:cNvPr id="20" name="Picture 19" descr="shap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94560"/>
            <a:ext cx="5495544" cy="19202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46888" y="2194560"/>
            <a:ext cx="5495544" cy="192024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6888" y="4187952"/>
            <a:ext cx="5495544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4261104"/>
            <a:ext cx="53126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SHAP분석 결과  (HIGH vs MED)</a:t>
            </a:r>
          </a:p>
          <a:p>
            <a:r>
              <a:rPr sz="900" b="0">
                <a:solidFill>
                  <a:srgbClr val="1E293B"/>
                </a:solidFill>
              </a:rPr>
              <a:t>  X178_mean:  HIGH 5.0010  vs  MED 4.9990  (1.00x, p=0.0002)</a:t>
            </a:r>
          </a:p>
          <a:p>
            <a:r>
              <a:rPr sz="900" b="0">
                <a:solidFill>
                  <a:srgbClr val="1E293B"/>
                </a:solidFill>
              </a:rPr>
              <a:t>  X552_range:  HIGH 21.5000  vs  MED 21.1000  (1.02x, p=0.0005)</a:t>
            </a:r>
          </a:p>
          <a:p>
            <a:r>
              <a:rPr sz="900" b="0">
                <a:solidFill>
                  <a:srgbClr val="1E293B"/>
                </a:solidFill>
              </a:rPr>
              <a:t>  X1031_range:  HIGH 1.3540  vs  MED 1.3510  (1.00x, p=0.0010)</a:t>
            </a:r>
          </a:p>
          <a:p>
            <a:r>
              <a:rPr sz="900" b="0">
                <a:solidFill>
                  <a:srgbClr val="1E293B"/>
                </a:solidFill>
              </a:rPr>
              <a:t>  X40_median:  HIGH 0.0820  vs  MED 0.0780  (1.05x, p=0.0030)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" y="5129784"/>
            <a:ext cx="549554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" y="5202936"/>
            <a:ext cx="53126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293B"/>
                </a:solidFill>
              </a:rPr>
              <a:t>Model RMSE  :  Val 0.005736   |   Test 0.008427</a:t>
            </a:r>
          </a:p>
        </p:txBody>
      </p:sp>
      <p:pic>
        <p:nvPicPr>
          <p:cNvPr id="26" name="Picture 25" descr="lot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16736"/>
            <a:ext cx="5815584" cy="164592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126480" y="1316736"/>
            <a:ext cx="5815584" cy="164592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26480" y="3054096"/>
            <a:ext cx="91440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118104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Position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483864"/>
            <a:ext cx="91440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547872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Position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913632"/>
            <a:ext cx="91440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97764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Position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4343400"/>
            <a:ext cx="91440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40740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Position 4</a:t>
            </a:r>
          </a:p>
        </p:txBody>
      </p:sp>
      <p:sp>
        <p:nvSpPr>
          <p:cNvPr id="36" name="Oval 35"/>
          <p:cNvSpPr/>
          <p:nvPr/>
        </p:nvSpPr>
        <p:spPr>
          <a:xfrm>
            <a:off x="7178040" y="3236976"/>
            <a:ext cx="1417320" cy="14173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3781044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웨이퍼맵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3054096"/>
            <a:ext cx="3209544" cy="1783080"/>
          </a:xfrm>
          <a:prstGeom prst="rect">
            <a:avLst/>
          </a:prstGeom>
          <a:solidFill>
            <a:srgbClr val="E8F0FE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3781044"/>
            <a:ext cx="32095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</a:rPr>
              <a:t>피처 임포턴스
(정상 vs 불량)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4928616"/>
            <a:ext cx="5815584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5001768"/>
            <a:ext cx="5632704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X1056, X567 para 불량 분석 요청</a:t>
            </a:r>
          </a:p>
          <a:p>
            <a:r>
              <a:rPr sz="900" b="0">
                <a:solidFill>
                  <a:srgbClr val="1E293B"/>
                </a:solidFill>
              </a:rPr>
              <a:t>  집중 LOT: 53   |   집중 웨이퍼: LOT 53 - WF 11  (HIGH 23건)</a:t>
            </a:r>
          </a:p>
          <a:p>
            <a:r>
              <a:rPr sz="900" b="0">
                <a:solidFill>
                  <a:srgbClr val="1E293B"/>
                </a:solidFill>
              </a:rPr>
              <a:t>  → inline 참원인 분석 요청  (PI 엔지니어 확인 필요)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661111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2026년 05월 12일  ·  Two-Stage Model  ·  불량 임계값 y_pred ≥ 0.003412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661111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Field Health Prediction Model v1.0  ·  WT Quality Analysis  ·  Page 1 of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661111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We Do Technology  |  SK hynix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